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257" r:id="rId3"/>
    <p:sldId id="283" r:id="rId4"/>
    <p:sldId id="284" r:id="rId5"/>
    <p:sldId id="263" r:id="rId6"/>
    <p:sldId id="265" r:id="rId7"/>
    <p:sldId id="267" r:id="rId8"/>
    <p:sldId id="269" r:id="rId9"/>
    <p:sldId id="273" r:id="rId10"/>
    <p:sldId id="271" r:id="rId11"/>
    <p:sldId id="285" r:id="rId12"/>
    <p:sldId id="286" r:id="rId13"/>
    <p:sldId id="277" r:id="rId14"/>
    <p:sldId id="275" r:id="rId15"/>
    <p:sldId id="279" r:id="rId16"/>
    <p:sldId id="287" r:id="rId17"/>
    <p:sldId id="281" r:id="rId18"/>
    <p:sldId id="282" r:id="rId1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EC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EE361-D2FB-4832-8A04-FBD109F5D33C}"/>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9AD1793-55B8-4A7E-85DB-E81A7C91E348}"/>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E0A75079-5603-4D97-8DD7-FB61DABCB0D5}" type="datetimeFigureOut">
              <a:rPr lang="en-US" smtClean="0"/>
              <a:t>9/16/2025</a:t>
            </a:fld>
            <a:endParaRPr lang="en-US"/>
          </a:p>
        </p:txBody>
      </p:sp>
      <p:sp>
        <p:nvSpPr>
          <p:cNvPr id="4" name="Footer Placeholder 3">
            <a:extLst>
              <a:ext uri="{FF2B5EF4-FFF2-40B4-BE49-F238E27FC236}">
                <a16:creationId xmlns:a16="http://schemas.microsoft.com/office/drawing/2014/main" id="{D4676DE3-12C8-4B93-BA93-2354E914BE68}"/>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E396E26-9217-4B9F-8FE8-1BBB17E1D019}"/>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07633DA4-F4B6-49F1-BAB9-FEFB31B208F9}" type="slidenum">
              <a:rPr lang="en-US" smtClean="0"/>
              <a:t>‹#›</a:t>
            </a:fld>
            <a:endParaRPr lang="en-US"/>
          </a:p>
        </p:txBody>
      </p:sp>
    </p:spTree>
    <p:extLst>
      <p:ext uri="{BB962C8B-B14F-4D97-AF65-F5344CB8AC3E}">
        <p14:creationId xmlns:p14="http://schemas.microsoft.com/office/powerpoint/2010/main" val="40644608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148986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37206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370"/>
            <a:ext cx="14630400" cy="8238744"/>
          </a:xfrm>
          <a:prstGeom prst="rect">
            <a:avLst/>
          </a:prstGeom>
        </p:spPr>
      </p:pic>
      <p:sp>
        <p:nvSpPr>
          <p:cNvPr id="8" name="Rectangle 7">
            <a:extLst>
              <a:ext uri="{FF2B5EF4-FFF2-40B4-BE49-F238E27FC236}">
                <a16:creationId xmlns:a16="http://schemas.microsoft.com/office/drawing/2014/main" id="{A9C7B09D-CB0B-4395-9F11-C81591E26A1D}"/>
              </a:ext>
            </a:extLst>
          </p:cNvPr>
          <p:cNvSpPr/>
          <p:nvPr/>
        </p:nvSpPr>
        <p:spPr>
          <a:xfrm>
            <a:off x="165120" y="1274586"/>
            <a:ext cx="7150078" cy="5542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060"/>
                </a:solidFill>
                <a:latin typeface="Yu Gothic UI Semibold" panose="020B0700000000000000" pitchFamily="34" charset="-128"/>
                <a:ea typeface="Yu Gothic UI Semibold" panose="020B0700000000000000" pitchFamily="34" charset="-128"/>
              </a:rPr>
              <a:t>International Islamic University Chittagong</a:t>
            </a:r>
          </a:p>
        </p:txBody>
      </p:sp>
      <p:pic>
        <p:nvPicPr>
          <p:cNvPr id="9" name="Picture 1">
            <a:extLst>
              <a:ext uri="{FF2B5EF4-FFF2-40B4-BE49-F238E27FC236}">
                <a16:creationId xmlns:a16="http://schemas.microsoft.com/office/drawing/2014/main" id="{2FE8E3D7-D043-495F-9EC6-49895D84B70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6687" y="256373"/>
            <a:ext cx="981825" cy="103846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0B654651-2FB7-49F7-ACA6-ED4C7BF352CB}"/>
              </a:ext>
            </a:extLst>
          </p:cNvPr>
          <p:cNvSpPr/>
          <p:nvPr/>
        </p:nvSpPr>
        <p:spPr>
          <a:xfrm>
            <a:off x="7480318" y="12370"/>
            <a:ext cx="7150082" cy="8241970"/>
          </a:xfrm>
          <a:prstGeom prst="rect">
            <a:avLst/>
          </a:prstGeom>
          <a:solidFill>
            <a:srgbClr val="D1ECFD">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953632-1380-4C27-A2D6-0484DAD29F34}"/>
              </a:ext>
            </a:extLst>
          </p:cNvPr>
          <p:cNvSpPr/>
          <p:nvPr/>
        </p:nvSpPr>
        <p:spPr>
          <a:xfrm>
            <a:off x="865206" y="2177631"/>
            <a:ext cx="5885727" cy="3117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2060"/>
                </a:solidFill>
                <a:latin typeface="Yu Gothic UI Semibold" panose="020B0700000000000000" pitchFamily="34" charset="-128"/>
                <a:ea typeface="Yu Gothic UI Semibold" panose="020B0700000000000000" pitchFamily="34" charset="-128"/>
              </a:rPr>
              <a:t>Department Of Computer Science &amp; Engineering</a:t>
            </a:r>
          </a:p>
        </p:txBody>
      </p:sp>
      <p:sp>
        <p:nvSpPr>
          <p:cNvPr id="12" name="Flowchart: Connector 11">
            <a:extLst>
              <a:ext uri="{FF2B5EF4-FFF2-40B4-BE49-F238E27FC236}">
                <a16:creationId xmlns:a16="http://schemas.microsoft.com/office/drawing/2014/main" id="{DFF0303A-800A-4E08-AAEA-DC9B269F5B32}"/>
              </a:ext>
            </a:extLst>
          </p:cNvPr>
          <p:cNvSpPr/>
          <p:nvPr/>
        </p:nvSpPr>
        <p:spPr>
          <a:xfrm>
            <a:off x="1837479" y="2847013"/>
            <a:ext cx="3640239" cy="3502798"/>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rgbClr val="002060"/>
                </a:solidFill>
                <a:latin typeface="思源黑体-思源黑体-Bold"/>
              </a:rPr>
              <a:t>Project </a:t>
            </a:r>
          </a:p>
          <a:p>
            <a:pPr algn="ctr"/>
            <a:r>
              <a:rPr lang="en-US" sz="4400" b="1" dirty="0">
                <a:solidFill>
                  <a:srgbClr val="002060"/>
                </a:solidFill>
                <a:latin typeface="思源黑体-思源黑体-Bold"/>
              </a:rPr>
              <a:t>Proposal</a:t>
            </a:r>
          </a:p>
        </p:txBody>
      </p:sp>
      <p:sp>
        <p:nvSpPr>
          <p:cNvPr id="13" name="Rectangle 12">
            <a:extLst>
              <a:ext uri="{FF2B5EF4-FFF2-40B4-BE49-F238E27FC236}">
                <a16:creationId xmlns:a16="http://schemas.microsoft.com/office/drawing/2014/main" id="{0A7047D3-CE70-4B9C-AF97-7BD3BAAD4AB4}"/>
              </a:ext>
            </a:extLst>
          </p:cNvPr>
          <p:cNvSpPr/>
          <p:nvPr/>
        </p:nvSpPr>
        <p:spPr>
          <a:xfrm>
            <a:off x="7559711" y="1857195"/>
            <a:ext cx="4901881" cy="11421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latin typeface="Yu Gothic UI Semibold" panose="020B0700000000000000" pitchFamily="34" charset="-128"/>
                <a:ea typeface="Yu Gothic UI Semibold" panose="020B0700000000000000" pitchFamily="34" charset="-128"/>
              </a:rPr>
              <a:t>Course Code : CSE-3644</a:t>
            </a:r>
          </a:p>
          <a:p>
            <a:pPr algn="ctr"/>
            <a:r>
              <a:rPr lang="en-US" sz="2000" dirty="0">
                <a:solidFill>
                  <a:srgbClr val="002060"/>
                </a:solidFill>
                <a:latin typeface="Yu Gothic UI Semibold" panose="020B0700000000000000" pitchFamily="34" charset="-128"/>
                <a:ea typeface="Yu Gothic UI Semibold" panose="020B0700000000000000" pitchFamily="34" charset="-128"/>
              </a:rPr>
              <a:t>Course Name : Software Development ii</a:t>
            </a:r>
          </a:p>
        </p:txBody>
      </p:sp>
      <p:sp>
        <p:nvSpPr>
          <p:cNvPr id="14" name="Rectangle 13">
            <a:extLst>
              <a:ext uri="{FF2B5EF4-FFF2-40B4-BE49-F238E27FC236}">
                <a16:creationId xmlns:a16="http://schemas.microsoft.com/office/drawing/2014/main" id="{28F100F1-AEF3-4D40-923C-44B1C1DC407C}"/>
              </a:ext>
            </a:extLst>
          </p:cNvPr>
          <p:cNvSpPr/>
          <p:nvPr/>
        </p:nvSpPr>
        <p:spPr>
          <a:xfrm>
            <a:off x="9752436" y="3248145"/>
            <a:ext cx="4593615" cy="201103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latin typeface="Yu Gothic UI Semibold" panose="020B0700000000000000" pitchFamily="34" charset="-128"/>
                <a:ea typeface="Yu Gothic UI Semibold" panose="020B0700000000000000" pitchFamily="34" charset="-128"/>
              </a:rPr>
              <a:t>Supervisor :</a:t>
            </a:r>
          </a:p>
          <a:p>
            <a:pPr algn="ctr"/>
            <a:r>
              <a:rPr lang="en-US" sz="2000" dirty="0">
                <a:solidFill>
                  <a:srgbClr val="002060"/>
                </a:solidFill>
                <a:latin typeface="Yu Gothic UI Semibold" panose="020B0700000000000000" pitchFamily="34" charset="-128"/>
                <a:ea typeface="Yu Gothic UI Semibold" panose="020B0700000000000000" pitchFamily="34" charset="-128"/>
              </a:rPr>
              <a:t>Jannat Hossain Disha,</a:t>
            </a:r>
          </a:p>
          <a:p>
            <a:pPr algn="ctr"/>
            <a:r>
              <a:rPr lang="en-US" sz="2000" dirty="0">
                <a:solidFill>
                  <a:srgbClr val="002060"/>
                </a:solidFill>
                <a:latin typeface="Yu Gothic UI Semibold" panose="020B0700000000000000" pitchFamily="34" charset="-128"/>
                <a:ea typeface="Yu Gothic UI Semibold" panose="020B0700000000000000" pitchFamily="34" charset="-128"/>
              </a:rPr>
              <a:t>Adjunct Lecturer,</a:t>
            </a:r>
          </a:p>
          <a:p>
            <a:pPr algn="ctr"/>
            <a:r>
              <a:rPr lang="en-US" sz="2000" dirty="0">
                <a:solidFill>
                  <a:srgbClr val="002060"/>
                </a:solidFill>
                <a:latin typeface="Yu Gothic UI Semibold" panose="020B0700000000000000" pitchFamily="34" charset="-128"/>
                <a:ea typeface="Yu Gothic UI Semibold" panose="020B0700000000000000" pitchFamily="34" charset="-128"/>
              </a:rPr>
              <a:t>Dept. of CSE. IIUC.</a:t>
            </a:r>
          </a:p>
        </p:txBody>
      </p:sp>
      <p:sp>
        <p:nvSpPr>
          <p:cNvPr id="15" name="Rectangle 14">
            <a:extLst>
              <a:ext uri="{FF2B5EF4-FFF2-40B4-BE49-F238E27FC236}">
                <a16:creationId xmlns:a16="http://schemas.microsoft.com/office/drawing/2014/main" id="{931EDBE3-14D7-4D90-A71D-C1A9716175EA}"/>
              </a:ext>
            </a:extLst>
          </p:cNvPr>
          <p:cNvSpPr/>
          <p:nvPr/>
        </p:nvSpPr>
        <p:spPr>
          <a:xfrm>
            <a:off x="7569840" y="5507992"/>
            <a:ext cx="4745624" cy="23280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latin typeface="Yu Gothic UI Semibold" panose="020B0700000000000000" pitchFamily="34" charset="-128"/>
                <a:ea typeface="Yu Gothic UI Semibold" panose="020B0700000000000000" pitchFamily="34" charset="-128"/>
              </a:rPr>
              <a:t>Team :</a:t>
            </a:r>
          </a:p>
          <a:p>
            <a:pPr algn="ctr"/>
            <a:r>
              <a:rPr lang="en-US" sz="2000" dirty="0">
                <a:solidFill>
                  <a:srgbClr val="002060"/>
                </a:solidFill>
                <a:latin typeface="Yu Gothic UI Semibold" panose="020B0700000000000000" pitchFamily="34" charset="-128"/>
                <a:ea typeface="Yu Gothic UI Semibold" panose="020B0700000000000000" pitchFamily="34" charset="-128"/>
              </a:rPr>
              <a:t>The Hashtag</a:t>
            </a:r>
          </a:p>
          <a:p>
            <a:pPr algn="ctr"/>
            <a:r>
              <a:rPr lang="en-US" sz="2000" dirty="0">
                <a:solidFill>
                  <a:srgbClr val="002060"/>
                </a:solidFill>
                <a:latin typeface="Yu Gothic UI Semibold" panose="020B0700000000000000" pitchFamily="34" charset="-128"/>
                <a:ea typeface="Yu Gothic UI Semibold" panose="020B0700000000000000" pitchFamily="34" charset="-128"/>
              </a:rPr>
              <a:t>C231516 [AFIA IBNAT]</a:t>
            </a:r>
          </a:p>
          <a:p>
            <a:pPr algn="ctr"/>
            <a:r>
              <a:rPr lang="en-US" sz="2000" dirty="0">
                <a:solidFill>
                  <a:srgbClr val="002060"/>
                </a:solidFill>
                <a:latin typeface="Yu Gothic UI Semibold" panose="020B0700000000000000" pitchFamily="34" charset="-128"/>
                <a:ea typeface="Yu Gothic UI Semibold" panose="020B0700000000000000" pitchFamily="34" charset="-128"/>
              </a:rPr>
              <a:t>C231523 [NADIRA HAYET]</a:t>
            </a:r>
          </a:p>
          <a:p>
            <a:pPr algn="ctr"/>
            <a:r>
              <a:rPr lang="en-US" sz="2000" dirty="0">
                <a:solidFill>
                  <a:srgbClr val="002060"/>
                </a:solidFill>
                <a:latin typeface="Yu Gothic UI Semibold" panose="020B0700000000000000" pitchFamily="34" charset="-128"/>
                <a:ea typeface="Yu Gothic UI Semibold" panose="020B0700000000000000" pitchFamily="34" charset="-128"/>
              </a:rPr>
              <a:t>C231527 [ANIMA ALI RAIMA]</a:t>
            </a:r>
          </a:p>
        </p:txBody>
      </p:sp>
      <p:sp>
        <p:nvSpPr>
          <p:cNvPr id="16" name="Rectangle 15">
            <a:extLst>
              <a:ext uri="{FF2B5EF4-FFF2-40B4-BE49-F238E27FC236}">
                <a16:creationId xmlns:a16="http://schemas.microsoft.com/office/drawing/2014/main" id="{35C8E4C4-93D4-4D81-B78F-CF2B53F6DC49}"/>
              </a:ext>
            </a:extLst>
          </p:cNvPr>
          <p:cNvSpPr/>
          <p:nvPr/>
        </p:nvSpPr>
        <p:spPr>
          <a:xfrm>
            <a:off x="9444170" y="396460"/>
            <a:ext cx="4901881" cy="11421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2060"/>
                </a:solidFill>
                <a:latin typeface="Yu Gothic UI Semibold" panose="020B0700000000000000" pitchFamily="34" charset="-128"/>
                <a:ea typeface="Yu Gothic UI Semibold" panose="020B0700000000000000" pitchFamily="34" charset="-128"/>
              </a:rPr>
              <a:t>Project Title : </a:t>
            </a:r>
          </a:p>
          <a:p>
            <a:pPr algn="ctr"/>
            <a:r>
              <a:rPr lang="en-US" sz="2000" dirty="0">
                <a:solidFill>
                  <a:srgbClr val="002060"/>
                </a:solidFill>
                <a:latin typeface="Yu Gothic UI Semibold" panose="020B0700000000000000" pitchFamily="34" charset="-128"/>
                <a:ea typeface="Yu Gothic UI Semibold" panose="020B0700000000000000" pitchFamily="34" charset="-128"/>
              </a:rPr>
              <a:t>Health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32" name="Rectangle 31">
            <a:extLst>
              <a:ext uri="{FF2B5EF4-FFF2-40B4-BE49-F238E27FC236}">
                <a16:creationId xmlns:a16="http://schemas.microsoft.com/office/drawing/2014/main" id="{DE951545-A015-4956-B449-1501A41A4F4D}"/>
              </a:ext>
            </a:extLst>
          </p:cNvPr>
          <p:cNvSpPr/>
          <p:nvPr/>
        </p:nvSpPr>
        <p:spPr>
          <a:xfrm>
            <a:off x="11979" y="2303087"/>
            <a:ext cx="6562846" cy="685665"/>
          </a:xfrm>
          <a:prstGeom prst="rect">
            <a:avLst/>
          </a:prstGeom>
          <a:solidFill>
            <a:srgbClr val="D1ECF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002060"/>
                </a:solidFill>
                <a:latin typeface="Yu Gothic UI Semibold" panose="020B0700000000000000" pitchFamily="34" charset="-128"/>
                <a:ea typeface="Yu Gothic UI Semibold" panose="020B0700000000000000" pitchFamily="34" charset="-128"/>
                <a:cs typeface="思源黑体-思源黑体-Bold" pitchFamily="34" charset="-120"/>
              </a:rPr>
              <a:t>Health</a:t>
            </a:r>
            <a:endParaRPr lang="en-US" sz="4000" b="1" dirty="0">
              <a:latin typeface="Yu Gothic UI Semibold" panose="020B0700000000000000" pitchFamily="34" charset="-128"/>
              <a:ea typeface="Yu Gothic UI Semibold" panose="020B0700000000000000" pitchFamily="34" charset="-128"/>
            </a:endParaRPr>
          </a:p>
        </p:txBody>
      </p:sp>
      <p:sp>
        <p:nvSpPr>
          <p:cNvPr id="33" name="Rectangle 32">
            <a:extLst>
              <a:ext uri="{FF2B5EF4-FFF2-40B4-BE49-F238E27FC236}">
                <a16:creationId xmlns:a16="http://schemas.microsoft.com/office/drawing/2014/main" id="{24469B0F-5A8F-499C-AE4D-A9E4DBA73769}"/>
              </a:ext>
            </a:extLst>
          </p:cNvPr>
          <p:cNvSpPr/>
          <p:nvPr/>
        </p:nvSpPr>
        <p:spPr>
          <a:xfrm>
            <a:off x="-23958" y="3372014"/>
            <a:ext cx="6562846" cy="685665"/>
          </a:xfrm>
          <a:prstGeom prst="rect">
            <a:avLst/>
          </a:prstGeom>
          <a:solidFill>
            <a:srgbClr val="D1ECF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002060"/>
                </a:solidFill>
                <a:latin typeface="Yu Gothic UI Semibold" panose="020B0700000000000000" pitchFamily="34" charset="-128"/>
                <a:ea typeface="Yu Gothic UI Semibold" panose="020B0700000000000000" pitchFamily="34" charset="-128"/>
                <a:cs typeface="思源黑体-思源黑体-Bold" pitchFamily="34" charset="-120"/>
              </a:rPr>
              <a:t>Management</a:t>
            </a:r>
            <a:endParaRPr lang="en-US" sz="4000" b="1" dirty="0"/>
          </a:p>
        </p:txBody>
      </p:sp>
      <p:sp>
        <p:nvSpPr>
          <p:cNvPr id="34" name="Rectangle 33">
            <a:extLst>
              <a:ext uri="{FF2B5EF4-FFF2-40B4-BE49-F238E27FC236}">
                <a16:creationId xmlns:a16="http://schemas.microsoft.com/office/drawing/2014/main" id="{B854A5F0-BB4F-49A6-BCD4-89A9B12BB450}"/>
              </a:ext>
            </a:extLst>
          </p:cNvPr>
          <p:cNvSpPr/>
          <p:nvPr/>
        </p:nvSpPr>
        <p:spPr>
          <a:xfrm>
            <a:off x="35938" y="4440941"/>
            <a:ext cx="6538887" cy="685665"/>
          </a:xfrm>
          <a:prstGeom prst="rect">
            <a:avLst/>
          </a:prstGeom>
          <a:solidFill>
            <a:srgbClr val="D1ECF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solidFill>
                  <a:srgbClr val="002060"/>
                </a:solidFill>
                <a:latin typeface="Yu Gothic UI Semibold" panose="020B0700000000000000" pitchFamily="34" charset="-128"/>
                <a:ea typeface="Yu Gothic UI Semibold" panose="020B0700000000000000" pitchFamily="34" charset="-128"/>
                <a:cs typeface="思源黑体-思源黑体-Bold" pitchFamily="34" charset="-120"/>
              </a:rPr>
              <a:t>System</a:t>
            </a:r>
            <a:endParaRPr lang="en-US" sz="4000" b="1" dirty="0"/>
          </a:p>
        </p:txBody>
      </p:sp>
      <p:sp>
        <p:nvSpPr>
          <p:cNvPr id="38" name="Rectangle 37">
            <a:extLst>
              <a:ext uri="{FF2B5EF4-FFF2-40B4-BE49-F238E27FC236}">
                <a16:creationId xmlns:a16="http://schemas.microsoft.com/office/drawing/2014/main" id="{3DC98C7B-3599-425F-BBA4-41BB25108A34}"/>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aphicFrame>
        <p:nvGraphicFramePr>
          <p:cNvPr id="5" name="Table 4">
            <a:extLst>
              <a:ext uri="{FF2B5EF4-FFF2-40B4-BE49-F238E27FC236}">
                <a16:creationId xmlns:a16="http://schemas.microsoft.com/office/drawing/2014/main" id="{05FFDA24-42D5-4BBF-9825-238F0CC5FE06}"/>
              </a:ext>
            </a:extLst>
          </p:cNvPr>
          <p:cNvGraphicFramePr>
            <a:graphicFrameLocks noGrp="1"/>
          </p:cNvGraphicFramePr>
          <p:nvPr>
            <p:extLst>
              <p:ext uri="{D42A27DB-BD31-4B8C-83A1-F6EECF244321}">
                <p14:modId xmlns:p14="http://schemas.microsoft.com/office/powerpoint/2010/main" val="1377910187"/>
              </p:ext>
            </p:extLst>
          </p:nvPr>
        </p:nvGraphicFramePr>
        <p:xfrm>
          <a:off x="6800595" y="285846"/>
          <a:ext cx="6194643" cy="6858000"/>
        </p:xfrm>
        <a:graphic>
          <a:graphicData uri="http://schemas.openxmlformats.org/drawingml/2006/table">
            <a:tbl>
              <a:tblPr firstRow="1" bandRow="1">
                <a:tableStyleId>{7DF18680-E054-41AD-8BC1-D1AEF772440D}</a:tableStyleId>
              </a:tblPr>
              <a:tblGrid>
                <a:gridCol w="4281591">
                  <a:extLst>
                    <a:ext uri="{9D8B030D-6E8A-4147-A177-3AD203B41FA5}">
                      <a16:colId xmlns:a16="http://schemas.microsoft.com/office/drawing/2014/main" val="1727567262"/>
                    </a:ext>
                  </a:extLst>
                </a:gridCol>
                <a:gridCol w="1913052">
                  <a:extLst>
                    <a:ext uri="{9D8B030D-6E8A-4147-A177-3AD203B41FA5}">
                      <a16:colId xmlns:a16="http://schemas.microsoft.com/office/drawing/2014/main" val="3623092277"/>
                    </a:ext>
                  </a:extLst>
                </a:gridCol>
              </a:tblGrid>
              <a:tr h="40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002060"/>
                          </a:solidFill>
                          <a:latin typeface="Yu Gothic UI Semibold" panose="020B0700000000000000" pitchFamily="34" charset="-128"/>
                          <a:ea typeface="Yu Gothic UI Semibold" panose="020B0700000000000000" pitchFamily="34" charset="-128"/>
                          <a:cs typeface="思源黑体-思源黑体-Bold" pitchFamily="34" charset="-120"/>
                        </a:rPr>
                        <a:t>               </a:t>
                      </a:r>
                      <a:r>
                        <a:rPr lang="en-US" sz="2400" dirty="0">
                          <a:solidFill>
                            <a:schemeClr val="bg1"/>
                          </a:solidFill>
                          <a:latin typeface="Yu Gothic UI Semibold" panose="020B0700000000000000" pitchFamily="34" charset="-128"/>
                          <a:ea typeface="Yu Gothic UI Semibold" panose="020B0700000000000000" pitchFamily="34" charset="-128"/>
                          <a:cs typeface="思源黑体-思源黑体-Bold" pitchFamily="34" charset="-120"/>
                        </a:rPr>
                        <a:t>CONTENTS</a:t>
                      </a:r>
                      <a:endParaRPr lang="en-US" sz="2400" dirty="0">
                        <a:solidFill>
                          <a:schemeClr val="bg1"/>
                        </a:solidFill>
                        <a:latin typeface="Yu Gothic UI Semibold" panose="020B0700000000000000" pitchFamily="34" charset="-128"/>
                        <a:ea typeface="Yu Gothic UI Semibold" panose="020B0700000000000000" pitchFamily="34"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Yu Gothic UI Semibold" panose="020B0700000000000000" pitchFamily="34" charset="-128"/>
                          <a:ea typeface="Yu Gothic UI Semibold" panose="020B0700000000000000" pitchFamily="34" charset="-128"/>
                        </a:rPr>
                        <a:t>    SLIDES</a:t>
                      </a:r>
                    </a:p>
                  </a:txBody>
                  <a:tcPr/>
                </a:tc>
                <a:extLst>
                  <a:ext uri="{0D108BD9-81ED-4DB2-BD59-A6C34878D82A}">
                    <a16:rowId xmlns:a16="http://schemas.microsoft.com/office/drawing/2014/main" val="394089089"/>
                  </a:ext>
                </a:extLst>
              </a:tr>
              <a:tr h="40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 Project Description</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2</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extLst>
                  <a:ext uri="{0D108BD9-81ED-4DB2-BD59-A6C34878D82A}">
                    <a16:rowId xmlns:a16="http://schemas.microsoft.com/office/drawing/2014/main" val="534928662"/>
                  </a:ext>
                </a:extLst>
              </a:tr>
              <a:tr h="40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2. Problem Statement</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3</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extLst>
                  <a:ext uri="{0D108BD9-81ED-4DB2-BD59-A6C34878D82A}">
                    <a16:rowId xmlns:a16="http://schemas.microsoft.com/office/drawing/2014/main" val="2803268226"/>
                  </a:ext>
                </a:extLst>
              </a:tr>
              <a:tr h="40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3. Objectives</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4</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extLst>
                  <a:ext uri="{0D108BD9-81ED-4DB2-BD59-A6C34878D82A}">
                    <a16:rowId xmlns:a16="http://schemas.microsoft.com/office/drawing/2014/main" val="4058384180"/>
                  </a:ext>
                </a:extLst>
              </a:tr>
              <a:tr h="40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4. Why We Chose This Project</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5</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extLst>
                  <a:ext uri="{0D108BD9-81ED-4DB2-BD59-A6C34878D82A}">
                    <a16:rowId xmlns:a16="http://schemas.microsoft.com/office/drawing/2014/main" val="365054915"/>
                  </a:ext>
                </a:extLst>
              </a:tr>
              <a:tr h="404795">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5. Why Our Project</a:t>
                      </a:r>
                      <a:endParaRPr lang="en-US" sz="2400" dirty="0"/>
                    </a:p>
                  </a:txBody>
                  <a:tcPr/>
                </a:tc>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6</a:t>
                      </a:r>
                      <a:endParaRPr lang="en-US" sz="2400" dirty="0"/>
                    </a:p>
                  </a:txBody>
                  <a:tcPr/>
                </a:tc>
                <a:extLst>
                  <a:ext uri="{0D108BD9-81ED-4DB2-BD59-A6C34878D82A}">
                    <a16:rowId xmlns:a16="http://schemas.microsoft.com/office/drawing/2014/main" val="890627026"/>
                  </a:ext>
                </a:extLst>
              </a:tr>
              <a:tr h="404795">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6. Advantages &amp; Disadvantages</a:t>
                      </a:r>
                      <a:endParaRPr lang="en-US" sz="2400" dirty="0"/>
                    </a:p>
                  </a:txBody>
                  <a:tcPr/>
                </a:tc>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7</a:t>
                      </a:r>
                      <a:endParaRPr lang="en-US" sz="2400" dirty="0"/>
                    </a:p>
                  </a:txBody>
                  <a:tcPr/>
                </a:tc>
                <a:extLst>
                  <a:ext uri="{0D108BD9-81ED-4DB2-BD59-A6C34878D82A}">
                    <a16:rowId xmlns:a16="http://schemas.microsoft.com/office/drawing/2014/main" val="3567309980"/>
                  </a:ext>
                </a:extLst>
              </a:tr>
              <a:tr h="404795">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7. Literature Review</a:t>
                      </a:r>
                      <a:endParaRPr lang="en-US" sz="2400" dirty="0"/>
                    </a:p>
                  </a:txBody>
                  <a:tcPr/>
                </a:tc>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8</a:t>
                      </a:r>
                      <a:endParaRPr lang="en-US" sz="2400" dirty="0"/>
                    </a:p>
                  </a:txBody>
                  <a:tcPr/>
                </a:tc>
                <a:extLst>
                  <a:ext uri="{0D108BD9-81ED-4DB2-BD59-A6C34878D82A}">
                    <a16:rowId xmlns:a16="http://schemas.microsoft.com/office/drawing/2014/main" val="82404280"/>
                  </a:ext>
                </a:extLst>
              </a:tr>
              <a:tr h="404795">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8. Methodologies</a:t>
                      </a:r>
                      <a:endParaRPr lang="en-US" sz="2400" dirty="0"/>
                    </a:p>
                  </a:txBody>
                  <a:tcPr/>
                </a:tc>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9</a:t>
                      </a:r>
                      <a:endParaRPr lang="en-US" sz="2400" dirty="0"/>
                    </a:p>
                  </a:txBody>
                  <a:tcPr/>
                </a:tc>
                <a:extLst>
                  <a:ext uri="{0D108BD9-81ED-4DB2-BD59-A6C34878D82A}">
                    <a16:rowId xmlns:a16="http://schemas.microsoft.com/office/drawing/2014/main" val="3787986048"/>
                  </a:ext>
                </a:extLst>
              </a:tr>
              <a:tr h="404795">
                <a:tc>
                  <a:txBody>
                    <a:bodyPr/>
                    <a:lstStyle/>
                    <a:p>
                      <a:r>
                        <a:rPr lang="en-US" sz="2400" dirty="0"/>
                        <a:t>9.</a:t>
                      </a: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 System Features &amp; Workflow</a:t>
                      </a:r>
                      <a:endParaRPr lang="en-US" sz="2400" dirty="0"/>
                    </a:p>
                  </a:txBody>
                  <a:tcPr/>
                </a:tc>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10-11</a:t>
                      </a:r>
                      <a:endParaRPr lang="en-US" sz="2400" dirty="0"/>
                    </a:p>
                  </a:txBody>
                  <a:tcPr/>
                </a:tc>
                <a:extLst>
                  <a:ext uri="{0D108BD9-81ED-4DB2-BD59-A6C34878D82A}">
                    <a16:rowId xmlns:a16="http://schemas.microsoft.com/office/drawing/2014/main" val="264128122"/>
                  </a:ext>
                </a:extLst>
              </a:tr>
              <a:tr h="40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10. Expected Outcomes</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12</a:t>
                      </a:r>
                      <a:endParaRPr lang="en-US" sz="2400" dirty="0"/>
                    </a:p>
                  </a:txBody>
                  <a:tcPr/>
                </a:tc>
                <a:extLst>
                  <a:ext uri="{0D108BD9-81ED-4DB2-BD59-A6C34878D82A}">
                    <a16:rowId xmlns:a16="http://schemas.microsoft.com/office/drawing/2014/main" val="1145755083"/>
                  </a:ext>
                </a:extLst>
              </a:tr>
              <a:tr h="404795">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11. Work Plan</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13</a:t>
                      </a:r>
                      <a:endParaRPr lang="en-US" sz="2400" dirty="0"/>
                    </a:p>
                  </a:txBody>
                  <a:tcPr/>
                </a:tc>
                <a:extLst>
                  <a:ext uri="{0D108BD9-81ED-4DB2-BD59-A6C34878D82A}">
                    <a16:rowId xmlns:a16="http://schemas.microsoft.com/office/drawing/2014/main" val="1377502255"/>
                  </a:ext>
                </a:extLst>
              </a:tr>
              <a:tr h="404795">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11. Future Scope</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14</a:t>
                      </a:r>
                      <a:endParaRPr lang="en-US" sz="2400" dirty="0"/>
                    </a:p>
                  </a:txBody>
                  <a:tcPr/>
                </a:tc>
                <a:extLst>
                  <a:ext uri="{0D108BD9-81ED-4DB2-BD59-A6C34878D82A}">
                    <a16:rowId xmlns:a16="http://schemas.microsoft.com/office/drawing/2014/main" val="3030270774"/>
                  </a:ext>
                </a:extLst>
              </a:tr>
              <a:tr h="404795">
                <a:tc>
                  <a:txBody>
                    <a:bodyPr/>
                    <a:lstStyle/>
                    <a:p>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12. Budget </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15</a:t>
                      </a:r>
                      <a:endParaRPr lang="en-US" sz="2400" dirty="0"/>
                    </a:p>
                  </a:txBody>
                  <a:tcPr/>
                </a:tc>
                <a:extLst>
                  <a:ext uri="{0D108BD9-81ED-4DB2-BD59-A6C34878D82A}">
                    <a16:rowId xmlns:a16="http://schemas.microsoft.com/office/drawing/2014/main" val="4045084061"/>
                  </a:ext>
                </a:extLst>
              </a:tr>
              <a:tr h="40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13. Conclusion</a:t>
                      </a:r>
                      <a:endParaRPr lang="en-US" sz="2400" b="1" dirty="0">
                        <a:solidFill>
                          <a:srgbClr val="002060"/>
                        </a:solidFill>
                        <a:latin typeface="Yu Gothic UI Semilight" panose="020B0400000000000000" pitchFamily="34" charset="-128"/>
                        <a:ea typeface="Yu Gothic UI Semilight" panose="020B0400000000000000" pitchFamily="34"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16</a:t>
                      </a:r>
                      <a:endParaRPr lang="en-US" sz="2400" dirty="0"/>
                    </a:p>
                  </a:txBody>
                  <a:tcPr/>
                </a:tc>
                <a:extLst>
                  <a:ext uri="{0D108BD9-81ED-4DB2-BD59-A6C34878D82A}">
                    <a16:rowId xmlns:a16="http://schemas.microsoft.com/office/drawing/2014/main" val="428489863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144"/>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570054" y="2338535"/>
            <a:ext cx="8608670" cy="45719"/>
          </a:xfrm>
          <a:prstGeom prst="rect">
            <a:avLst/>
          </a:prstGeom>
        </p:spPr>
      </p:pic>
      <p:sp>
        <p:nvSpPr>
          <p:cNvPr id="8" name="Text 0">
            <a:extLst>
              <a:ext uri="{FF2B5EF4-FFF2-40B4-BE49-F238E27FC236}">
                <a16:creationId xmlns:a16="http://schemas.microsoft.com/office/drawing/2014/main" id="{6107EE3A-6123-441E-ADCC-FD3D8782ABA8}"/>
              </a:ext>
            </a:extLst>
          </p:cNvPr>
          <p:cNvSpPr/>
          <p:nvPr/>
        </p:nvSpPr>
        <p:spPr>
          <a:xfrm>
            <a:off x="940443" y="1488638"/>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Project Description</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9" name="TextBox 8">
            <a:extLst>
              <a:ext uri="{FF2B5EF4-FFF2-40B4-BE49-F238E27FC236}">
                <a16:creationId xmlns:a16="http://schemas.microsoft.com/office/drawing/2014/main" id="{F229DEF9-8E1E-422A-83A7-616F04327451}"/>
              </a:ext>
            </a:extLst>
          </p:cNvPr>
          <p:cNvSpPr txBox="1"/>
          <p:nvPr/>
        </p:nvSpPr>
        <p:spPr>
          <a:xfrm>
            <a:off x="940443" y="2988382"/>
            <a:ext cx="10871453" cy="2677656"/>
          </a:xfrm>
          <a:prstGeom prst="rect">
            <a:avLst/>
          </a:prstGeom>
          <a:noFill/>
          <a:ln>
            <a:noFill/>
          </a:ln>
        </p:spPr>
        <p:txBody>
          <a:bodyPr wrap="square" rtlCol="0">
            <a:spAutoFit/>
          </a:bodyPr>
          <a:lstStyle/>
          <a:p>
            <a:r>
              <a:rPr lang="en-US" sz="2400" dirty="0"/>
              <a:t>The Health Management System is a web-based platform designed to help users manage and monitor their overall health and wellness. The system provides multiple services including nutrition tracking, medication history, symptom monitoring, appointment scheduling, fitness plans, and access to health-related articles. By integrating these features into a single platform, the system aims to improve accessibility, convenience, and awareness regarding personal healthcare management.</a:t>
            </a:r>
          </a:p>
        </p:txBody>
      </p:sp>
      <p:sp>
        <p:nvSpPr>
          <p:cNvPr id="10" name="Rectangle 9">
            <a:extLst>
              <a:ext uri="{FF2B5EF4-FFF2-40B4-BE49-F238E27FC236}">
                <a16:creationId xmlns:a16="http://schemas.microsoft.com/office/drawing/2014/main" id="{FA6D96AA-3199-4B2D-8A06-3B257830F093}"/>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Tree>
    <p:extLst>
      <p:ext uri="{BB962C8B-B14F-4D97-AF65-F5344CB8AC3E}">
        <p14:creationId xmlns:p14="http://schemas.microsoft.com/office/powerpoint/2010/main" val="936779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34C87CD-1FEE-414D-AB6B-D3906C171B11}"/>
              </a:ext>
            </a:extLst>
          </p:cNvPr>
          <p:cNvPicPr>
            <a:picLocks noChangeAspect="1"/>
          </p:cNvPicPr>
          <p:nvPr/>
        </p:nvPicPr>
        <p:blipFill>
          <a:blip r:embed="rId2"/>
          <a:stretch>
            <a:fillRect/>
          </a:stretch>
        </p:blipFill>
        <p:spPr>
          <a:xfrm>
            <a:off x="0" y="-9144"/>
            <a:ext cx="14630400" cy="8238744"/>
          </a:xfrm>
          <a:prstGeom prst="rect">
            <a:avLst/>
          </a:prstGeom>
        </p:spPr>
      </p:pic>
      <p:sp>
        <p:nvSpPr>
          <p:cNvPr id="3" name="Text 0">
            <a:extLst>
              <a:ext uri="{FF2B5EF4-FFF2-40B4-BE49-F238E27FC236}">
                <a16:creationId xmlns:a16="http://schemas.microsoft.com/office/drawing/2014/main" id="{6513080A-4319-4F24-846A-E01828EAC22F}"/>
              </a:ext>
            </a:extLst>
          </p:cNvPr>
          <p:cNvSpPr/>
          <p:nvPr/>
        </p:nvSpPr>
        <p:spPr>
          <a:xfrm>
            <a:off x="940443" y="1216524"/>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Problem Statement</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pic>
        <p:nvPicPr>
          <p:cNvPr id="4" name="Image 2" descr="preencoded.png">
            <a:extLst>
              <a:ext uri="{FF2B5EF4-FFF2-40B4-BE49-F238E27FC236}">
                <a16:creationId xmlns:a16="http://schemas.microsoft.com/office/drawing/2014/main" id="{9C3477AF-ADA3-42EB-8FFC-731EC7FA0D14}"/>
              </a:ext>
            </a:extLst>
          </p:cNvPr>
          <p:cNvPicPr>
            <a:picLocks noChangeAspect="1"/>
          </p:cNvPicPr>
          <p:nvPr/>
        </p:nvPicPr>
        <p:blipFill>
          <a:blip r:embed="rId3"/>
          <a:stretch>
            <a:fillRect/>
          </a:stretch>
        </p:blipFill>
        <p:spPr>
          <a:xfrm>
            <a:off x="462477" y="2026563"/>
            <a:ext cx="8608670" cy="45719"/>
          </a:xfrm>
          <a:prstGeom prst="rect">
            <a:avLst/>
          </a:prstGeom>
        </p:spPr>
      </p:pic>
      <p:sp>
        <p:nvSpPr>
          <p:cNvPr id="5" name="TextBox 4">
            <a:extLst>
              <a:ext uri="{FF2B5EF4-FFF2-40B4-BE49-F238E27FC236}">
                <a16:creationId xmlns:a16="http://schemas.microsoft.com/office/drawing/2014/main" id="{6DD003EA-E962-4457-894C-5CA6E7F98919}"/>
              </a:ext>
            </a:extLst>
          </p:cNvPr>
          <p:cNvSpPr txBox="1"/>
          <p:nvPr/>
        </p:nvSpPr>
        <p:spPr>
          <a:xfrm>
            <a:off x="789836" y="2814660"/>
            <a:ext cx="11506155" cy="3046988"/>
          </a:xfrm>
          <a:prstGeom prst="rect">
            <a:avLst/>
          </a:prstGeom>
          <a:noFill/>
          <a:ln>
            <a:noFill/>
          </a:ln>
        </p:spPr>
        <p:txBody>
          <a:bodyPr wrap="square" rtlCol="0">
            <a:spAutoFit/>
          </a:bodyPr>
          <a:lstStyle/>
          <a:p>
            <a:r>
              <a:rPr lang="en-US" sz="2400" dirty="0"/>
              <a:t>Despite the rapid growth of digital health solutions, most existing platforms are fragmented, focusing on one or two services such as nutrition tracking, medication reminders, or appointment booking. Users often need to manage multiple apps to handle their daily health-related tasks, leading to inconvenience, data silos and inconsistent user experiences. Moreover, many systems lack localized accessibility, affordable solutions for students, and a secure, unified database for health records. This gap creates a need for an integrated, user-friendly, and secure </a:t>
            </a:r>
            <a:r>
              <a:rPr lang="en-US" sz="2400" b="1" dirty="0"/>
              <a:t>Health Management System</a:t>
            </a:r>
            <a:r>
              <a:rPr lang="en-US" sz="2400" dirty="0"/>
              <a:t> that combines essential health services into a single platform.</a:t>
            </a:r>
          </a:p>
        </p:txBody>
      </p:sp>
      <p:sp>
        <p:nvSpPr>
          <p:cNvPr id="6" name="Rectangle 5">
            <a:extLst>
              <a:ext uri="{FF2B5EF4-FFF2-40B4-BE49-F238E27FC236}">
                <a16:creationId xmlns:a16="http://schemas.microsoft.com/office/drawing/2014/main" id="{ACAF2FE6-CEA8-4CFB-8BC9-9138A5C92083}"/>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Tree>
    <p:extLst>
      <p:ext uri="{BB962C8B-B14F-4D97-AF65-F5344CB8AC3E}">
        <p14:creationId xmlns:p14="http://schemas.microsoft.com/office/powerpoint/2010/main" val="2598444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713232" y="4590288"/>
            <a:ext cx="6537960" cy="886968"/>
          </a:xfrm>
          <a:prstGeom prst="rect">
            <a:avLst/>
          </a:prstGeom>
        </p:spPr>
      </p:pic>
      <p:pic>
        <p:nvPicPr>
          <p:cNvPr id="5" name="Image 3" descr="preencoded.png"/>
          <p:cNvPicPr>
            <a:picLocks noChangeAspect="1"/>
          </p:cNvPicPr>
          <p:nvPr/>
        </p:nvPicPr>
        <p:blipFill>
          <a:blip r:embed="rId4"/>
          <a:stretch>
            <a:fillRect/>
          </a:stretch>
        </p:blipFill>
        <p:spPr>
          <a:xfrm>
            <a:off x="685800" y="5678424"/>
            <a:ext cx="6537960" cy="886968"/>
          </a:xfrm>
          <a:prstGeom prst="rect">
            <a:avLst/>
          </a:prstGeom>
        </p:spPr>
      </p:pic>
      <p:pic>
        <p:nvPicPr>
          <p:cNvPr id="6" name="Image 4" descr="preencoded.png"/>
          <p:cNvPicPr>
            <a:picLocks noChangeAspect="1"/>
          </p:cNvPicPr>
          <p:nvPr/>
        </p:nvPicPr>
        <p:blipFill>
          <a:blip r:embed="rId4"/>
          <a:stretch>
            <a:fillRect/>
          </a:stretch>
        </p:blipFill>
        <p:spPr>
          <a:xfrm>
            <a:off x="7415784" y="4608576"/>
            <a:ext cx="6537960" cy="886968"/>
          </a:xfrm>
          <a:prstGeom prst="rect">
            <a:avLst/>
          </a:prstGeom>
        </p:spPr>
      </p:pic>
      <p:pic>
        <p:nvPicPr>
          <p:cNvPr id="7" name="Image 5" descr="preencoded.png"/>
          <p:cNvPicPr>
            <a:picLocks noChangeAspect="1"/>
          </p:cNvPicPr>
          <p:nvPr/>
        </p:nvPicPr>
        <p:blipFill>
          <a:blip r:embed="rId4"/>
          <a:stretch>
            <a:fillRect/>
          </a:stretch>
        </p:blipFill>
        <p:spPr>
          <a:xfrm>
            <a:off x="7415784" y="5678424"/>
            <a:ext cx="6537960" cy="886968"/>
          </a:xfrm>
          <a:prstGeom prst="rect">
            <a:avLst/>
          </a:prstGeom>
        </p:spPr>
      </p:pic>
      <p:pic>
        <p:nvPicPr>
          <p:cNvPr id="8" name="Image 6" descr="preencoded.png"/>
          <p:cNvPicPr>
            <a:picLocks noChangeAspect="1"/>
          </p:cNvPicPr>
          <p:nvPr/>
        </p:nvPicPr>
        <p:blipFill>
          <a:blip r:embed="rId5"/>
          <a:stretch>
            <a:fillRect/>
          </a:stretch>
        </p:blipFill>
        <p:spPr>
          <a:xfrm>
            <a:off x="685800" y="4608576"/>
            <a:ext cx="128016" cy="886968"/>
          </a:xfrm>
          <a:prstGeom prst="rect">
            <a:avLst/>
          </a:prstGeom>
        </p:spPr>
      </p:pic>
      <p:pic>
        <p:nvPicPr>
          <p:cNvPr id="9" name="Image 7" descr="preencoded.png"/>
          <p:cNvPicPr>
            <a:picLocks noChangeAspect="1"/>
          </p:cNvPicPr>
          <p:nvPr/>
        </p:nvPicPr>
        <p:blipFill>
          <a:blip r:embed="rId5"/>
          <a:stretch>
            <a:fillRect/>
          </a:stretch>
        </p:blipFill>
        <p:spPr>
          <a:xfrm>
            <a:off x="685800" y="5678424"/>
            <a:ext cx="128016" cy="886968"/>
          </a:xfrm>
          <a:prstGeom prst="rect">
            <a:avLst/>
          </a:prstGeom>
        </p:spPr>
      </p:pic>
      <p:pic>
        <p:nvPicPr>
          <p:cNvPr id="10" name="Image 8" descr="preencoded.png"/>
          <p:cNvPicPr>
            <a:picLocks noChangeAspect="1"/>
          </p:cNvPicPr>
          <p:nvPr/>
        </p:nvPicPr>
        <p:blipFill>
          <a:blip r:embed="rId5"/>
          <a:stretch>
            <a:fillRect/>
          </a:stretch>
        </p:blipFill>
        <p:spPr>
          <a:xfrm>
            <a:off x="7415784" y="4608576"/>
            <a:ext cx="128016" cy="886968"/>
          </a:xfrm>
          <a:prstGeom prst="rect">
            <a:avLst/>
          </a:prstGeom>
        </p:spPr>
      </p:pic>
      <p:pic>
        <p:nvPicPr>
          <p:cNvPr id="11" name="Image 9" descr="preencoded.png"/>
          <p:cNvPicPr>
            <a:picLocks noChangeAspect="1"/>
          </p:cNvPicPr>
          <p:nvPr/>
        </p:nvPicPr>
        <p:blipFill>
          <a:blip r:embed="rId5"/>
          <a:stretch>
            <a:fillRect/>
          </a:stretch>
        </p:blipFill>
        <p:spPr>
          <a:xfrm>
            <a:off x="7415784" y="5678424"/>
            <a:ext cx="128016" cy="886968"/>
          </a:xfrm>
          <a:prstGeom prst="rect">
            <a:avLst/>
          </a:prstGeom>
        </p:spPr>
      </p:pic>
      <p:sp>
        <p:nvSpPr>
          <p:cNvPr id="12" name="Text 0"/>
          <p:cNvSpPr/>
          <p:nvPr/>
        </p:nvSpPr>
        <p:spPr>
          <a:xfrm>
            <a:off x="749808" y="212921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00687C"/>
                </a:solidFill>
                <a:latin typeface="思源黑体-思源黑体-Bold" pitchFamily="34" charset="0"/>
                <a:ea typeface="思源黑体-思源黑体-Bold" pitchFamily="34" charset="-122"/>
                <a:cs typeface="思源黑体-思源黑体-Bold" pitchFamily="34" charset="-120"/>
              </a:rPr>
              <a:t>Objectives</a:t>
            </a:r>
            <a:endParaRPr lang="en-US" sz="3840" dirty="0"/>
          </a:p>
        </p:txBody>
      </p:sp>
      <p:sp>
        <p:nvSpPr>
          <p:cNvPr id="13" name="Text 1"/>
          <p:cNvSpPr/>
          <p:nvPr/>
        </p:nvSpPr>
        <p:spPr>
          <a:xfrm>
            <a:off x="978408" y="4736592"/>
            <a:ext cx="6025896" cy="630936"/>
          </a:xfrm>
          <a:prstGeom prst="rect">
            <a:avLst/>
          </a:prstGeom>
          <a:noFill/>
          <a:ln/>
        </p:spPr>
        <p:txBody>
          <a:bodyPr wrap="square" lIns="0" tIns="0" rIns="0" bIns="0" rtlCol="0" anchor="ctr"/>
          <a:lstStyle/>
          <a:p>
            <a:pPr>
              <a:lnSpc>
                <a:spcPts val="2450"/>
              </a:lnSpc>
            </a:pPr>
            <a:r>
              <a:rPr lang="en-US" sz="2400" dirty="0"/>
              <a:t>To develop an all-in-one online health management platform.</a:t>
            </a:r>
          </a:p>
        </p:txBody>
      </p:sp>
      <p:sp>
        <p:nvSpPr>
          <p:cNvPr id="14" name="Text 2"/>
          <p:cNvSpPr/>
          <p:nvPr/>
        </p:nvSpPr>
        <p:spPr>
          <a:xfrm>
            <a:off x="978408" y="5806440"/>
            <a:ext cx="6025896" cy="630936"/>
          </a:xfrm>
          <a:prstGeom prst="rect">
            <a:avLst/>
          </a:prstGeom>
          <a:noFill/>
          <a:ln/>
        </p:spPr>
        <p:txBody>
          <a:bodyPr wrap="square" lIns="0" tIns="0" rIns="0" bIns="0" rtlCol="0" anchor="ctr"/>
          <a:lstStyle/>
          <a:p>
            <a:pPr>
              <a:lnSpc>
                <a:spcPts val="2450"/>
              </a:lnSpc>
            </a:pPr>
            <a:r>
              <a:rPr lang="en-US" sz="2400" dirty="0"/>
              <a:t>To integrate appointment scheduling with doctor contact details.</a:t>
            </a:r>
          </a:p>
        </p:txBody>
      </p:sp>
      <p:sp>
        <p:nvSpPr>
          <p:cNvPr id="15" name="Text 3"/>
          <p:cNvSpPr/>
          <p:nvPr/>
        </p:nvSpPr>
        <p:spPr>
          <a:xfrm>
            <a:off x="7708392" y="4736592"/>
            <a:ext cx="6025896" cy="630936"/>
          </a:xfrm>
          <a:prstGeom prst="rect">
            <a:avLst/>
          </a:prstGeom>
          <a:noFill/>
          <a:ln/>
        </p:spPr>
        <p:txBody>
          <a:bodyPr wrap="square" lIns="0" tIns="0" rIns="0" bIns="0" rtlCol="0" anchor="ctr"/>
          <a:lstStyle/>
          <a:p>
            <a:pPr>
              <a:lnSpc>
                <a:spcPts val="2450"/>
              </a:lnSpc>
            </a:pPr>
            <a:r>
              <a:rPr lang="en-US" sz="2400" dirty="0"/>
              <a:t>To enable users to track nutrition, medications, symptoms and fitness activities.</a:t>
            </a:r>
          </a:p>
        </p:txBody>
      </p:sp>
      <p:sp>
        <p:nvSpPr>
          <p:cNvPr id="16" name="Text 4"/>
          <p:cNvSpPr/>
          <p:nvPr/>
        </p:nvSpPr>
        <p:spPr>
          <a:xfrm>
            <a:off x="7708392" y="5806440"/>
            <a:ext cx="6025896" cy="630936"/>
          </a:xfrm>
          <a:prstGeom prst="rect">
            <a:avLst/>
          </a:prstGeom>
          <a:noFill/>
          <a:ln/>
        </p:spPr>
        <p:txBody>
          <a:bodyPr wrap="square" lIns="0" tIns="0" rIns="0" bIns="0" rtlCol="0" anchor="ctr"/>
          <a:lstStyle/>
          <a:p>
            <a:pPr>
              <a:lnSpc>
                <a:spcPts val="2450"/>
              </a:lnSpc>
            </a:pPr>
            <a:r>
              <a:rPr lang="en-US" sz="2400" dirty="0"/>
              <a:t>To ensure secure and efficient storage of health records.</a:t>
            </a:r>
          </a:p>
        </p:txBody>
      </p:sp>
      <p:pic>
        <p:nvPicPr>
          <p:cNvPr id="17" name="Image 2" descr="preencoded.png">
            <a:extLst>
              <a:ext uri="{FF2B5EF4-FFF2-40B4-BE49-F238E27FC236}">
                <a16:creationId xmlns:a16="http://schemas.microsoft.com/office/drawing/2014/main" id="{21D56284-02E0-4BEB-9C1F-C65AB51F990E}"/>
              </a:ext>
            </a:extLst>
          </p:cNvPr>
          <p:cNvPicPr>
            <a:picLocks noChangeAspect="1"/>
          </p:cNvPicPr>
          <p:nvPr/>
        </p:nvPicPr>
        <p:blipFill>
          <a:blip r:embed="rId6"/>
          <a:stretch>
            <a:fillRect/>
          </a:stretch>
        </p:blipFill>
        <p:spPr>
          <a:xfrm>
            <a:off x="373284" y="3119719"/>
            <a:ext cx="8608670" cy="45719"/>
          </a:xfrm>
          <a:prstGeom prst="rect">
            <a:avLst/>
          </a:prstGeom>
        </p:spPr>
      </p:pic>
      <p:sp>
        <p:nvSpPr>
          <p:cNvPr id="18" name="Rectangle 17">
            <a:extLst>
              <a:ext uri="{FF2B5EF4-FFF2-40B4-BE49-F238E27FC236}">
                <a16:creationId xmlns:a16="http://schemas.microsoft.com/office/drawing/2014/main" id="{43673480-18AA-4166-8E36-74682583E3C9}"/>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1116552" y="865597"/>
            <a:ext cx="8293608"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Why We Choose This Project</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5" name="Text 1"/>
          <p:cNvSpPr/>
          <p:nvPr/>
        </p:nvSpPr>
        <p:spPr>
          <a:xfrm>
            <a:off x="1116552" y="2261688"/>
            <a:ext cx="8451139" cy="3178144"/>
          </a:xfrm>
          <a:prstGeom prst="rect">
            <a:avLst/>
          </a:prstGeom>
          <a:noFill/>
          <a:ln/>
        </p:spPr>
        <p:txBody>
          <a:bodyPr wrap="square" lIns="0" tIns="0" rIns="0" bIns="0" rtlCol="0" anchor="ctr"/>
          <a:lstStyle/>
          <a:p>
            <a:pPr>
              <a:lnSpc>
                <a:spcPts val="2450"/>
              </a:lnSpc>
            </a:pPr>
            <a:r>
              <a:rPr lang="en-US" sz="2400" dirty="0"/>
              <a:t>We choose this project because there is an increasing demand for digital health solutions in today’s fast-paced world. People are looking for efficient ways to monitor and manage their health online and there is a growing need for integrated platforms that cover multiple aspects of well-being, including nutrition, medication, fitness and mental health. Additionally, this project provides an excellent opportunity for the team to apply both frontend and backend development skills in a real-life context, creating a practical solution that addresses contemporary healthcare challenges.</a:t>
            </a:r>
          </a:p>
        </p:txBody>
      </p:sp>
      <p:pic>
        <p:nvPicPr>
          <p:cNvPr id="7" name="Image 2" descr="preencoded.png">
            <a:extLst>
              <a:ext uri="{FF2B5EF4-FFF2-40B4-BE49-F238E27FC236}">
                <a16:creationId xmlns:a16="http://schemas.microsoft.com/office/drawing/2014/main" id="{F7BE0848-A12C-4A44-8CF1-236E6E481B9A}"/>
              </a:ext>
            </a:extLst>
          </p:cNvPr>
          <p:cNvPicPr>
            <a:picLocks noChangeAspect="1"/>
          </p:cNvPicPr>
          <p:nvPr/>
        </p:nvPicPr>
        <p:blipFill>
          <a:blip r:embed="rId4"/>
          <a:stretch>
            <a:fillRect/>
          </a:stretch>
        </p:blipFill>
        <p:spPr>
          <a:xfrm>
            <a:off x="630643" y="1715611"/>
            <a:ext cx="8608670" cy="45719"/>
          </a:xfrm>
          <a:prstGeom prst="rect">
            <a:avLst/>
          </a:prstGeom>
        </p:spPr>
      </p:pic>
      <p:sp>
        <p:nvSpPr>
          <p:cNvPr id="8" name="Rectangle 7">
            <a:extLst>
              <a:ext uri="{FF2B5EF4-FFF2-40B4-BE49-F238E27FC236}">
                <a16:creationId xmlns:a16="http://schemas.microsoft.com/office/drawing/2014/main" id="{27BECCEC-18D4-445A-9633-C67D04CC938B}"/>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144"/>
            <a:ext cx="14630400" cy="8238744"/>
          </a:xfrm>
          <a:prstGeom prst="rect">
            <a:avLst/>
          </a:prstGeom>
        </p:spPr>
      </p:pic>
      <p:sp>
        <p:nvSpPr>
          <p:cNvPr id="4" name="Text 0"/>
          <p:cNvSpPr/>
          <p:nvPr/>
        </p:nvSpPr>
        <p:spPr>
          <a:xfrm>
            <a:off x="998317" y="1307696"/>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Why Our Project</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5" name="Text 1"/>
          <p:cNvSpPr/>
          <p:nvPr/>
        </p:nvSpPr>
        <p:spPr>
          <a:xfrm>
            <a:off x="998317" y="2134317"/>
            <a:ext cx="9893460" cy="3658033"/>
          </a:xfrm>
          <a:prstGeom prst="rect">
            <a:avLst/>
          </a:prstGeom>
          <a:noFill/>
          <a:ln/>
        </p:spPr>
        <p:txBody>
          <a:bodyPr wrap="square" lIns="0" tIns="0" rIns="0" bIns="0" rtlCol="0" anchor="ctr"/>
          <a:lstStyle/>
          <a:p>
            <a:pPr>
              <a:lnSpc>
                <a:spcPts val="2450"/>
              </a:lnSpc>
            </a:pPr>
            <a:r>
              <a:rPr lang="en-US" sz="2400" dirty="0"/>
              <a:t>What makes our Health Management System unique is its comprehensive approach to personal health. The platform not only combines nutrition, medication, fitness and wellness information in a single interface but also provides direct access to doctors’ contact details along with an appointment management system. It emphasizes both physical and mental health through informative tips and articles and is built on a modern and secure technology stack, ensuring a reliable and user-friendly experience for all users.</a:t>
            </a:r>
          </a:p>
        </p:txBody>
      </p:sp>
      <p:pic>
        <p:nvPicPr>
          <p:cNvPr id="10" name="Image 2" descr="preencoded.png">
            <a:extLst>
              <a:ext uri="{FF2B5EF4-FFF2-40B4-BE49-F238E27FC236}">
                <a16:creationId xmlns:a16="http://schemas.microsoft.com/office/drawing/2014/main" id="{0A28E101-314E-4C14-98FA-04E0C93B7704}"/>
              </a:ext>
            </a:extLst>
          </p:cNvPr>
          <p:cNvPicPr>
            <a:picLocks noChangeAspect="1"/>
          </p:cNvPicPr>
          <p:nvPr/>
        </p:nvPicPr>
        <p:blipFill>
          <a:blip r:embed="rId4"/>
          <a:stretch>
            <a:fillRect/>
          </a:stretch>
        </p:blipFill>
        <p:spPr>
          <a:xfrm>
            <a:off x="581629" y="2134317"/>
            <a:ext cx="8608670" cy="45719"/>
          </a:xfrm>
          <a:prstGeom prst="rect">
            <a:avLst/>
          </a:prstGeom>
        </p:spPr>
      </p:pic>
      <p:sp>
        <p:nvSpPr>
          <p:cNvPr id="11" name="Rectangle 10">
            <a:extLst>
              <a:ext uri="{FF2B5EF4-FFF2-40B4-BE49-F238E27FC236}">
                <a16:creationId xmlns:a16="http://schemas.microsoft.com/office/drawing/2014/main" id="{219CE816-DAD3-49A2-AFFB-BC07CD889231}"/>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1" name="Image 0" descr="preencoded.png">
            <a:extLst>
              <a:ext uri="{FF2B5EF4-FFF2-40B4-BE49-F238E27FC236}">
                <a16:creationId xmlns:a16="http://schemas.microsoft.com/office/drawing/2014/main" id="{18EFEB8F-4249-4B60-BA18-E0EF63F18AA5}"/>
              </a:ext>
            </a:extLst>
          </p:cNvPr>
          <p:cNvPicPr>
            <a:picLocks noChangeAspect="1"/>
          </p:cNvPicPr>
          <p:nvPr/>
        </p:nvPicPr>
        <p:blipFill>
          <a:blip r:embed="rId3"/>
          <a:stretch>
            <a:fillRect/>
          </a:stretch>
        </p:blipFill>
        <p:spPr>
          <a:xfrm>
            <a:off x="9144" y="11575"/>
            <a:ext cx="14630400" cy="8238744"/>
          </a:xfrm>
          <a:prstGeom prst="rect">
            <a:avLst/>
          </a:prstGeom>
        </p:spPr>
      </p:pic>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685800" y="2643054"/>
            <a:ext cx="6537960" cy="5035218"/>
          </a:xfrm>
          <a:prstGeom prst="rect">
            <a:avLst/>
          </a:prstGeom>
        </p:spPr>
      </p:pic>
      <p:pic>
        <p:nvPicPr>
          <p:cNvPr id="5" name="Image 3" descr="preencoded.png"/>
          <p:cNvPicPr>
            <a:picLocks noChangeAspect="1"/>
          </p:cNvPicPr>
          <p:nvPr/>
        </p:nvPicPr>
        <p:blipFill>
          <a:blip r:embed="rId4"/>
          <a:stretch>
            <a:fillRect/>
          </a:stretch>
        </p:blipFill>
        <p:spPr>
          <a:xfrm>
            <a:off x="7452360" y="2643054"/>
            <a:ext cx="6537960" cy="5035218"/>
          </a:xfrm>
          <a:prstGeom prst="rect">
            <a:avLst/>
          </a:prstGeom>
        </p:spPr>
      </p:pic>
      <p:sp>
        <p:nvSpPr>
          <p:cNvPr id="6" name="Text 0"/>
          <p:cNvSpPr/>
          <p:nvPr/>
        </p:nvSpPr>
        <p:spPr>
          <a:xfrm>
            <a:off x="685800" y="1197864"/>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Advantages &amp; Disadvantages</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7" name="Text 1"/>
          <p:cNvSpPr/>
          <p:nvPr/>
        </p:nvSpPr>
        <p:spPr>
          <a:xfrm>
            <a:off x="914400" y="3227832"/>
            <a:ext cx="6089904" cy="310896"/>
          </a:xfrm>
          <a:prstGeom prst="rect">
            <a:avLst/>
          </a:prstGeom>
          <a:noFill/>
          <a:ln/>
        </p:spPr>
        <p:txBody>
          <a:bodyPr wrap="none" lIns="0" tIns="0" rIns="0" bIns="0" rtlCol="0" anchor="ctr"/>
          <a:lstStyle/>
          <a:p>
            <a:pPr marL="0" indent="0" algn="l">
              <a:lnSpc>
                <a:spcPts val="2400"/>
              </a:lnSpc>
              <a:buNone/>
            </a:pPr>
            <a:r>
              <a:rPr lang="en-US" sz="2800" b="1" dirty="0">
                <a:solidFill>
                  <a:srgbClr val="292D2E"/>
                </a:solidFill>
                <a:ea typeface="Yu Gothic UI Semilight" panose="020B0400000000000000" pitchFamily="34" charset="-128"/>
                <a:cs typeface="思源黑体-思源黑体-Bold" pitchFamily="34" charset="-120"/>
              </a:rPr>
              <a:t>Advantages</a:t>
            </a:r>
            <a:endParaRPr lang="en-US" sz="2800" b="1" dirty="0">
              <a:ea typeface="Yu Gothic UI Semilight" panose="020B0400000000000000" pitchFamily="34" charset="-128"/>
            </a:endParaRPr>
          </a:p>
        </p:txBody>
      </p:sp>
      <p:sp>
        <p:nvSpPr>
          <p:cNvPr id="8" name="Text 2"/>
          <p:cNvSpPr/>
          <p:nvPr/>
        </p:nvSpPr>
        <p:spPr>
          <a:xfrm>
            <a:off x="914400" y="3783247"/>
            <a:ext cx="6089904" cy="804672"/>
          </a:xfrm>
          <a:prstGeom prst="rect">
            <a:avLst/>
          </a:prstGeom>
          <a:noFill/>
          <a:ln/>
        </p:spPr>
        <p:txBody>
          <a:bodyPr wrap="none" lIns="0" tIns="0" rIns="0" bIns="0" rtlCol="0" anchor="ctr"/>
          <a:lstStyle/>
          <a:p>
            <a:pPr>
              <a:lnSpc>
                <a:spcPts val="2450"/>
              </a:lnSpc>
            </a:pPr>
            <a:r>
              <a:rPr lang="en-US" sz="2400" dirty="0">
                <a:solidFill>
                  <a:srgbClr val="292D2E"/>
                </a:solidFill>
                <a:latin typeface="思源黑体-思源黑体-Medium" pitchFamily="34" charset="0"/>
                <a:ea typeface="思源黑体-思源黑体-Medium" pitchFamily="34" charset="-122"/>
                <a:cs typeface="思源黑体-思源黑体-Medium" pitchFamily="34" charset="-120"/>
              </a:rPr>
              <a:t>• </a:t>
            </a:r>
            <a:r>
              <a:rPr lang="en-US" sz="2400" dirty="0"/>
              <a:t>Centralized platform to manage multiple health-</a:t>
            </a:r>
          </a:p>
          <a:p>
            <a:pPr>
              <a:lnSpc>
                <a:spcPts val="2450"/>
              </a:lnSpc>
            </a:pPr>
            <a:r>
              <a:rPr lang="en-US" sz="2400" dirty="0"/>
              <a:t>related services.</a:t>
            </a:r>
          </a:p>
        </p:txBody>
      </p:sp>
      <p:sp>
        <p:nvSpPr>
          <p:cNvPr id="9" name="Text 3"/>
          <p:cNvSpPr/>
          <p:nvPr/>
        </p:nvSpPr>
        <p:spPr>
          <a:xfrm>
            <a:off x="914400" y="5432393"/>
            <a:ext cx="6089904" cy="630936"/>
          </a:xfrm>
          <a:prstGeom prst="rect">
            <a:avLst/>
          </a:prstGeom>
          <a:noFill/>
          <a:ln/>
        </p:spPr>
        <p:txBody>
          <a:bodyPr wrap="square" lIns="0" tIns="0" rIns="0" bIns="0" rtlCol="0" anchor="ctr"/>
          <a:lstStyle/>
          <a:p>
            <a:pPr>
              <a:lnSpc>
                <a:spcPts val="2450"/>
              </a:lnSpc>
            </a:pPr>
            <a:r>
              <a:rPr lang="en-US" sz="2400" dirty="0">
                <a:solidFill>
                  <a:srgbClr val="292D2E"/>
                </a:solidFill>
                <a:latin typeface="思源黑体-思源黑体-Medium" pitchFamily="34" charset="0"/>
                <a:ea typeface="思源黑体-思源黑体-Medium" pitchFamily="34" charset="-122"/>
                <a:cs typeface="思源黑体-思源黑体-Medium" pitchFamily="34" charset="-120"/>
              </a:rPr>
              <a:t>• </a:t>
            </a:r>
            <a:r>
              <a:rPr lang="en-US" sz="2400" dirty="0">
                <a:solidFill>
                  <a:srgbClr val="292D2E"/>
                </a:solidFill>
                <a:ea typeface="思源黑体-思源黑体-Medium" pitchFamily="34" charset="-122"/>
                <a:cs typeface="思源黑体-思源黑体-Medium" pitchFamily="34" charset="-120"/>
              </a:rPr>
              <a:t>Improves accessibility to doctor’s contact details and health articles.</a:t>
            </a:r>
            <a:endParaRPr lang="en-US" sz="2400" dirty="0"/>
          </a:p>
        </p:txBody>
      </p:sp>
      <p:sp>
        <p:nvSpPr>
          <p:cNvPr id="10" name="Text 4"/>
          <p:cNvSpPr/>
          <p:nvPr/>
        </p:nvSpPr>
        <p:spPr>
          <a:xfrm>
            <a:off x="914400" y="4649236"/>
            <a:ext cx="6089904" cy="630936"/>
          </a:xfrm>
          <a:prstGeom prst="rect">
            <a:avLst/>
          </a:prstGeom>
          <a:noFill/>
          <a:ln/>
        </p:spPr>
        <p:txBody>
          <a:bodyPr wrap="square" lIns="0" tIns="0" rIns="0" bIns="0" rtlCol="0" anchor="ctr"/>
          <a:lstStyle/>
          <a:p>
            <a:pPr>
              <a:lnSpc>
                <a:spcPts val="2450"/>
              </a:lnSpc>
            </a:pPr>
            <a:r>
              <a:rPr lang="en-US" sz="2400" dirty="0">
                <a:solidFill>
                  <a:srgbClr val="292D2E"/>
                </a:solidFill>
                <a:latin typeface="思源黑体-思源黑体-Medium" pitchFamily="34" charset="0"/>
                <a:ea typeface="思源黑体-思源黑体-Medium" pitchFamily="34" charset="-122"/>
                <a:cs typeface="思源黑体-思源黑体-Medium" pitchFamily="34" charset="-120"/>
              </a:rPr>
              <a:t>• </a:t>
            </a:r>
            <a:r>
              <a:rPr lang="en-US" sz="2400" dirty="0">
                <a:solidFill>
                  <a:srgbClr val="292D2E"/>
                </a:solidFill>
                <a:ea typeface="思源黑体-思源黑体-Medium" pitchFamily="34" charset="-122"/>
                <a:cs typeface="思源黑体-思源黑体-Medium" pitchFamily="34" charset="-120"/>
              </a:rPr>
              <a:t>Easy to track nutrition, medication, symptoms and fitness in one place.</a:t>
            </a:r>
            <a:endParaRPr lang="en-US" sz="2400" dirty="0"/>
          </a:p>
        </p:txBody>
      </p:sp>
      <p:sp>
        <p:nvSpPr>
          <p:cNvPr id="11" name="Text 5"/>
          <p:cNvSpPr/>
          <p:nvPr/>
        </p:nvSpPr>
        <p:spPr>
          <a:xfrm>
            <a:off x="7644384" y="3227832"/>
            <a:ext cx="6089904" cy="310896"/>
          </a:xfrm>
          <a:prstGeom prst="rect">
            <a:avLst/>
          </a:prstGeom>
          <a:noFill/>
          <a:ln/>
        </p:spPr>
        <p:txBody>
          <a:bodyPr wrap="none" lIns="0" tIns="0" rIns="0" bIns="0" rtlCol="0" anchor="ctr"/>
          <a:lstStyle/>
          <a:p>
            <a:pPr marL="0" indent="0" algn="l">
              <a:lnSpc>
                <a:spcPts val="2400"/>
              </a:lnSpc>
              <a:buNone/>
            </a:pPr>
            <a:r>
              <a:rPr lang="en-US" sz="2800" b="1" dirty="0">
                <a:solidFill>
                  <a:srgbClr val="292D2E"/>
                </a:solidFill>
                <a:ea typeface="思源黑体-思源黑体-Bold" pitchFamily="34" charset="-122"/>
                <a:cs typeface="思源黑体-思源黑体-Bold" pitchFamily="34" charset="-120"/>
              </a:rPr>
              <a:t>Disadvantages</a:t>
            </a:r>
            <a:endParaRPr lang="en-US" sz="2800" b="1" dirty="0"/>
          </a:p>
        </p:txBody>
      </p:sp>
      <p:sp>
        <p:nvSpPr>
          <p:cNvPr id="12" name="Text 6"/>
          <p:cNvSpPr/>
          <p:nvPr/>
        </p:nvSpPr>
        <p:spPr>
          <a:xfrm>
            <a:off x="7644384" y="4014217"/>
            <a:ext cx="6089904" cy="630935"/>
          </a:xfrm>
          <a:prstGeom prst="rect">
            <a:avLst/>
          </a:prstGeom>
          <a:noFill/>
          <a:ln/>
        </p:spPr>
        <p:txBody>
          <a:bodyPr wrap="none" lIns="0" tIns="0" rIns="0" bIns="0" rtlCol="0" anchor="ctr"/>
          <a:lstStyle/>
          <a:p>
            <a:pPr>
              <a:lnSpc>
                <a:spcPts val="2450"/>
              </a:lnSpc>
            </a:pPr>
            <a:r>
              <a:rPr lang="en-US" sz="2400" dirty="0">
                <a:solidFill>
                  <a:srgbClr val="292D2E"/>
                </a:solidFill>
                <a:latin typeface="思源黑体-思源黑体-Medium" pitchFamily="34" charset="0"/>
                <a:ea typeface="思源黑体-思源黑体-Medium" pitchFamily="34" charset="-122"/>
                <a:cs typeface="思源黑体-思源黑体-Medium" pitchFamily="34" charset="-120"/>
              </a:rPr>
              <a:t>• </a:t>
            </a:r>
            <a:r>
              <a:rPr lang="en-US" sz="2400" dirty="0">
                <a:solidFill>
                  <a:srgbClr val="292D2E"/>
                </a:solidFill>
                <a:ea typeface="思源黑体-思源黑体-Medium" pitchFamily="34" charset="-122"/>
                <a:cs typeface="思源黑体-思源黑体-Medium" pitchFamily="34" charset="-120"/>
              </a:rPr>
              <a:t>Limited personalization compared to </a:t>
            </a:r>
          </a:p>
          <a:p>
            <a:pPr>
              <a:lnSpc>
                <a:spcPts val="2450"/>
              </a:lnSpc>
            </a:pPr>
            <a:r>
              <a:rPr lang="en-US" sz="2400" dirty="0">
                <a:solidFill>
                  <a:srgbClr val="292D2E"/>
                </a:solidFill>
                <a:ea typeface="思源黑体-思源黑体-Medium" pitchFamily="34" charset="-122"/>
                <a:cs typeface="思源黑体-思源黑体-Medium" pitchFamily="34" charset="-120"/>
              </a:rPr>
              <a:t>professional medical advice.</a:t>
            </a:r>
            <a:endParaRPr lang="en-US" sz="2400" dirty="0"/>
          </a:p>
        </p:txBody>
      </p:sp>
      <p:sp>
        <p:nvSpPr>
          <p:cNvPr id="13" name="Text 7"/>
          <p:cNvSpPr/>
          <p:nvPr/>
        </p:nvSpPr>
        <p:spPr>
          <a:xfrm>
            <a:off x="7644384" y="4997196"/>
            <a:ext cx="6089904" cy="630936"/>
          </a:xfrm>
          <a:prstGeom prst="rect">
            <a:avLst/>
          </a:prstGeom>
          <a:noFill/>
          <a:ln/>
        </p:spPr>
        <p:txBody>
          <a:bodyPr wrap="none" lIns="0" tIns="0" rIns="0" bIns="0" rtlCol="0" anchor="ctr"/>
          <a:lstStyle/>
          <a:p>
            <a:pPr>
              <a:lnSpc>
                <a:spcPts val="2450"/>
              </a:lnSpc>
            </a:pPr>
            <a:r>
              <a:rPr lang="en-US" sz="2400" dirty="0">
                <a:solidFill>
                  <a:srgbClr val="292D2E"/>
                </a:solidFill>
                <a:latin typeface="思源黑体-思源黑体-Medium" pitchFamily="34" charset="0"/>
                <a:ea typeface="思源黑体-思源黑体-Medium" pitchFamily="34" charset="-122"/>
                <a:cs typeface="思源黑体-思源黑体-Medium" pitchFamily="34" charset="-120"/>
              </a:rPr>
              <a:t>• </a:t>
            </a:r>
            <a:r>
              <a:rPr lang="en-US" sz="2400" dirty="0">
                <a:solidFill>
                  <a:srgbClr val="292D2E"/>
                </a:solidFill>
                <a:ea typeface="思源黑体-思源黑体-Medium" pitchFamily="34" charset="-122"/>
                <a:cs typeface="思源黑体-思源黑体-Medium" pitchFamily="34" charset="-120"/>
              </a:rPr>
              <a:t>Data privacy and security risks if not </a:t>
            </a:r>
          </a:p>
          <a:p>
            <a:pPr>
              <a:lnSpc>
                <a:spcPts val="2450"/>
              </a:lnSpc>
            </a:pPr>
            <a:r>
              <a:rPr lang="en-US" sz="2400" dirty="0">
                <a:solidFill>
                  <a:srgbClr val="292D2E"/>
                </a:solidFill>
                <a:ea typeface="思源黑体-思源黑体-Medium" pitchFamily="34" charset="-122"/>
                <a:cs typeface="思源黑体-思源黑体-Medium" pitchFamily="34" charset="-120"/>
              </a:rPr>
              <a:t>properly implemented.</a:t>
            </a:r>
            <a:endParaRPr lang="en-US" sz="2400" dirty="0"/>
          </a:p>
        </p:txBody>
      </p:sp>
      <p:sp>
        <p:nvSpPr>
          <p:cNvPr id="14" name="Text 8"/>
          <p:cNvSpPr/>
          <p:nvPr/>
        </p:nvSpPr>
        <p:spPr>
          <a:xfrm>
            <a:off x="7644384" y="5929883"/>
            <a:ext cx="6089904" cy="630936"/>
          </a:xfrm>
          <a:prstGeom prst="rect">
            <a:avLst/>
          </a:prstGeom>
          <a:noFill/>
          <a:ln/>
        </p:spPr>
        <p:txBody>
          <a:bodyPr wrap="square" lIns="0" tIns="0" rIns="0" bIns="0" rtlCol="0" anchor="ctr"/>
          <a:lstStyle/>
          <a:p>
            <a:pPr>
              <a:lnSpc>
                <a:spcPts val="2450"/>
              </a:lnSpc>
            </a:pPr>
            <a:r>
              <a:rPr lang="en-US" sz="2400" dirty="0">
                <a:solidFill>
                  <a:srgbClr val="292D2E"/>
                </a:solidFill>
                <a:latin typeface="思源黑体-思源黑体-Medium" pitchFamily="34" charset="0"/>
                <a:ea typeface="思源黑体-思源黑体-Medium" pitchFamily="34" charset="-122"/>
                <a:cs typeface="思源黑体-思源黑体-Medium" pitchFamily="34" charset="-120"/>
              </a:rPr>
              <a:t>• </a:t>
            </a:r>
            <a:r>
              <a:rPr lang="en-US" sz="2400" dirty="0">
                <a:solidFill>
                  <a:srgbClr val="292D2E"/>
                </a:solidFill>
                <a:ea typeface="思源黑体-思源黑体-Medium" pitchFamily="34" charset="-122"/>
                <a:cs typeface="思源黑体-思源黑体-Medium" pitchFamily="34" charset="-120"/>
              </a:rPr>
              <a:t>Initial setup and maintenance can be costly.</a:t>
            </a:r>
            <a:endParaRPr lang="en-US" sz="2400" dirty="0"/>
          </a:p>
        </p:txBody>
      </p:sp>
      <p:pic>
        <p:nvPicPr>
          <p:cNvPr id="15" name="Image 2" descr="preencoded.png">
            <a:extLst>
              <a:ext uri="{FF2B5EF4-FFF2-40B4-BE49-F238E27FC236}">
                <a16:creationId xmlns:a16="http://schemas.microsoft.com/office/drawing/2014/main" id="{6C6820C2-814D-42F6-A3F1-D773FF8E298F}"/>
              </a:ext>
            </a:extLst>
          </p:cNvPr>
          <p:cNvPicPr>
            <a:picLocks noChangeAspect="1"/>
          </p:cNvPicPr>
          <p:nvPr/>
        </p:nvPicPr>
        <p:blipFill>
          <a:blip r:embed="rId5"/>
          <a:stretch>
            <a:fillRect/>
          </a:stretch>
        </p:blipFill>
        <p:spPr>
          <a:xfrm>
            <a:off x="313906" y="1984249"/>
            <a:ext cx="8608670" cy="45719"/>
          </a:xfrm>
          <a:prstGeom prst="rect">
            <a:avLst/>
          </a:prstGeom>
        </p:spPr>
      </p:pic>
      <p:cxnSp>
        <p:nvCxnSpPr>
          <p:cNvPr id="17" name="Straight Arrow Connector 16">
            <a:extLst>
              <a:ext uri="{FF2B5EF4-FFF2-40B4-BE49-F238E27FC236}">
                <a16:creationId xmlns:a16="http://schemas.microsoft.com/office/drawing/2014/main" id="{81111A25-CE99-4DD7-9AB4-AEC339536E54}"/>
              </a:ext>
            </a:extLst>
          </p:cNvPr>
          <p:cNvCxnSpPr/>
          <p:nvPr/>
        </p:nvCxnSpPr>
        <p:spPr>
          <a:xfrm>
            <a:off x="2708476" y="3383280"/>
            <a:ext cx="59030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8C1DA28-21E2-4446-936F-77F83A3EA883}"/>
              </a:ext>
            </a:extLst>
          </p:cNvPr>
          <p:cNvCxnSpPr/>
          <p:nvPr/>
        </p:nvCxnSpPr>
        <p:spPr>
          <a:xfrm>
            <a:off x="9886709" y="3353957"/>
            <a:ext cx="59030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CEFD17C5-3CFC-4809-965B-E746372854C6}"/>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0" name="Text 3">
            <a:extLst>
              <a:ext uri="{FF2B5EF4-FFF2-40B4-BE49-F238E27FC236}">
                <a16:creationId xmlns:a16="http://schemas.microsoft.com/office/drawing/2014/main" id="{FA9D8E86-DD3F-4C89-97CC-149B6C4A2EFD}"/>
              </a:ext>
            </a:extLst>
          </p:cNvPr>
          <p:cNvSpPr/>
          <p:nvPr/>
        </p:nvSpPr>
        <p:spPr>
          <a:xfrm>
            <a:off x="914400" y="6215550"/>
            <a:ext cx="6089904" cy="630936"/>
          </a:xfrm>
          <a:prstGeom prst="rect">
            <a:avLst/>
          </a:prstGeom>
          <a:noFill/>
          <a:ln/>
        </p:spPr>
        <p:txBody>
          <a:bodyPr wrap="square" lIns="0" tIns="0" rIns="0" bIns="0" rtlCol="0" anchor="ctr"/>
          <a:lstStyle/>
          <a:p>
            <a:pPr>
              <a:lnSpc>
                <a:spcPts val="2450"/>
              </a:lnSpc>
            </a:pPr>
            <a:r>
              <a:rPr lang="en-US" sz="2400" dirty="0">
                <a:solidFill>
                  <a:srgbClr val="292D2E"/>
                </a:solidFill>
                <a:latin typeface="思源黑体-思源黑体-Medium" pitchFamily="34" charset="0"/>
                <a:ea typeface="思源黑体-思源黑体-Medium" pitchFamily="34" charset="-122"/>
                <a:cs typeface="思源黑体-思源黑体-Medium" pitchFamily="34" charset="-120"/>
              </a:rPr>
              <a:t>• </a:t>
            </a:r>
            <a:r>
              <a:rPr lang="en-US" sz="2400" dirty="0">
                <a:solidFill>
                  <a:srgbClr val="292D2E"/>
                </a:solidFill>
                <a:ea typeface="思源黑体-思源黑体-Medium" pitchFamily="34" charset="-122"/>
                <a:cs typeface="思源黑体-思源黑体-Medium" pitchFamily="34" charset="-120"/>
              </a:rPr>
              <a:t>Secure storage of user health data with database management.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 y="11575"/>
            <a:ext cx="14630400" cy="8238744"/>
          </a:xfrm>
          <a:prstGeom prst="rect">
            <a:avLst/>
          </a:prstGeom>
        </p:spPr>
      </p:pic>
      <p:sp>
        <p:nvSpPr>
          <p:cNvPr id="4" name="Text 0"/>
          <p:cNvSpPr/>
          <p:nvPr/>
        </p:nvSpPr>
        <p:spPr>
          <a:xfrm>
            <a:off x="1209792" y="1227086"/>
            <a:ext cx="8293608"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Literature Review</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5" name="Text 1"/>
          <p:cNvSpPr/>
          <p:nvPr/>
        </p:nvSpPr>
        <p:spPr>
          <a:xfrm>
            <a:off x="1209792" y="2221129"/>
            <a:ext cx="11645595" cy="4202768"/>
          </a:xfrm>
          <a:prstGeom prst="rect">
            <a:avLst/>
          </a:prstGeom>
          <a:noFill/>
          <a:ln/>
        </p:spPr>
        <p:txBody>
          <a:bodyPr wrap="square" lIns="0" tIns="0" rIns="0" bIns="0" rtlCol="0" anchor="ctr"/>
          <a:lstStyle/>
          <a:p>
            <a:pPr>
              <a:lnSpc>
                <a:spcPts val="2450"/>
              </a:lnSpc>
            </a:pPr>
            <a:r>
              <a:rPr lang="en-US" sz="2400" dirty="0"/>
              <a:t>Existing digital health platforms address specific aspects of healthcare management but remain largely fragmented. For example, ‘Shareable Health Record (SHR)’ emphasizes the secure storage and exchange of patient health data; ‘Healthline’ serves as an extensive repository of evidence-based health articles and wellness guidance; and ‘Fitbit’ provides wearable-driven activity and fitness tracking. They operate within isolated domains and lack a unified, comprehensive framework. Our proposed ‘Health Management System’ seeks to integrate nutrition tracking, medication history, symptom monitoring, fitness planning, appointment scheduling and also access to doctor contacts into a single, user-centric platform, thereby offering a holistic and secure approach to personal health management.</a:t>
            </a:r>
          </a:p>
        </p:txBody>
      </p:sp>
      <p:pic>
        <p:nvPicPr>
          <p:cNvPr id="6" name="Image 2" descr="preencoded.png">
            <a:extLst>
              <a:ext uri="{FF2B5EF4-FFF2-40B4-BE49-F238E27FC236}">
                <a16:creationId xmlns:a16="http://schemas.microsoft.com/office/drawing/2014/main" id="{BEE0B972-CD09-4052-8B9C-B035EEDD7B2C}"/>
              </a:ext>
            </a:extLst>
          </p:cNvPr>
          <p:cNvPicPr>
            <a:picLocks noChangeAspect="1"/>
          </p:cNvPicPr>
          <p:nvPr/>
        </p:nvPicPr>
        <p:blipFill>
          <a:blip r:embed="rId4"/>
          <a:stretch>
            <a:fillRect/>
          </a:stretch>
        </p:blipFill>
        <p:spPr>
          <a:xfrm>
            <a:off x="787155" y="2042856"/>
            <a:ext cx="8608670" cy="45719"/>
          </a:xfrm>
          <a:prstGeom prst="rect">
            <a:avLst/>
          </a:prstGeom>
        </p:spPr>
      </p:pic>
      <p:sp>
        <p:nvSpPr>
          <p:cNvPr id="8" name="Rectangle 7">
            <a:extLst>
              <a:ext uri="{FF2B5EF4-FFF2-40B4-BE49-F238E27FC236}">
                <a16:creationId xmlns:a16="http://schemas.microsoft.com/office/drawing/2014/main" id="{D417F35D-E94A-48BC-8057-71E6B68D4899}"/>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6" name="Image 0" descr="preencoded.png">
            <a:extLst>
              <a:ext uri="{FF2B5EF4-FFF2-40B4-BE49-F238E27FC236}">
                <a16:creationId xmlns:a16="http://schemas.microsoft.com/office/drawing/2014/main" id="{97DCD3D4-47FE-451F-A805-75DF8C77FECB}"/>
              </a:ext>
            </a:extLst>
          </p:cNvPr>
          <p:cNvPicPr>
            <a:picLocks noChangeAspect="1"/>
          </p:cNvPicPr>
          <p:nvPr/>
        </p:nvPicPr>
        <p:blipFill>
          <a:blip r:embed="rId3"/>
          <a:stretch>
            <a:fillRect/>
          </a:stretch>
        </p:blipFill>
        <p:spPr>
          <a:xfrm>
            <a:off x="0" y="-9144"/>
            <a:ext cx="14630400" cy="8238744"/>
          </a:xfrm>
          <a:prstGeom prst="rect">
            <a:avLst/>
          </a:prstGeom>
        </p:spPr>
      </p:pic>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685800" y="3383280"/>
            <a:ext cx="6537960" cy="566928"/>
          </a:xfrm>
          <a:prstGeom prst="rect">
            <a:avLst/>
          </a:prstGeom>
        </p:spPr>
      </p:pic>
      <p:pic>
        <p:nvPicPr>
          <p:cNvPr id="5" name="Image 3" descr="preencoded.png"/>
          <p:cNvPicPr>
            <a:picLocks noChangeAspect="1"/>
          </p:cNvPicPr>
          <p:nvPr/>
        </p:nvPicPr>
        <p:blipFill>
          <a:blip r:embed="rId4"/>
          <a:stretch>
            <a:fillRect/>
          </a:stretch>
        </p:blipFill>
        <p:spPr>
          <a:xfrm>
            <a:off x="685800" y="4142232"/>
            <a:ext cx="6537960" cy="566928"/>
          </a:xfrm>
          <a:prstGeom prst="rect">
            <a:avLst/>
          </a:prstGeom>
        </p:spPr>
      </p:pic>
      <p:pic>
        <p:nvPicPr>
          <p:cNvPr id="6" name="Image 4" descr="preencoded.png"/>
          <p:cNvPicPr>
            <a:picLocks noChangeAspect="1"/>
          </p:cNvPicPr>
          <p:nvPr/>
        </p:nvPicPr>
        <p:blipFill>
          <a:blip r:embed="rId5"/>
          <a:stretch>
            <a:fillRect/>
          </a:stretch>
        </p:blipFill>
        <p:spPr>
          <a:xfrm>
            <a:off x="685800" y="4901184"/>
            <a:ext cx="13267944" cy="566928"/>
          </a:xfrm>
          <a:prstGeom prst="rect">
            <a:avLst/>
          </a:prstGeom>
        </p:spPr>
      </p:pic>
      <p:pic>
        <p:nvPicPr>
          <p:cNvPr id="7" name="Image 5" descr="preencoded.png"/>
          <p:cNvPicPr>
            <a:picLocks noChangeAspect="1"/>
          </p:cNvPicPr>
          <p:nvPr/>
        </p:nvPicPr>
        <p:blipFill>
          <a:blip r:embed="rId4"/>
          <a:stretch>
            <a:fillRect/>
          </a:stretch>
        </p:blipFill>
        <p:spPr>
          <a:xfrm>
            <a:off x="7415784" y="3383280"/>
            <a:ext cx="6537960" cy="566928"/>
          </a:xfrm>
          <a:prstGeom prst="rect">
            <a:avLst/>
          </a:prstGeom>
        </p:spPr>
      </p:pic>
      <p:pic>
        <p:nvPicPr>
          <p:cNvPr id="8" name="Image 6" descr="preencoded.png"/>
          <p:cNvPicPr>
            <a:picLocks noChangeAspect="1"/>
          </p:cNvPicPr>
          <p:nvPr/>
        </p:nvPicPr>
        <p:blipFill>
          <a:blip r:embed="rId4"/>
          <a:stretch>
            <a:fillRect/>
          </a:stretch>
        </p:blipFill>
        <p:spPr>
          <a:xfrm>
            <a:off x="7415784" y="4142232"/>
            <a:ext cx="6537960" cy="566928"/>
          </a:xfrm>
          <a:prstGeom prst="rect">
            <a:avLst/>
          </a:prstGeom>
        </p:spPr>
      </p:pic>
      <p:pic>
        <p:nvPicPr>
          <p:cNvPr id="9" name="Image 7" descr="preencoded.png"/>
          <p:cNvPicPr>
            <a:picLocks noChangeAspect="1"/>
          </p:cNvPicPr>
          <p:nvPr/>
        </p:nvPicPr>
        <p:blipFill>
          <a:blip r:embed="rId6"/>
          <a:stretch>
            <a:fillRect/>
          </a:stretch>
        </p:blipFill>
        <p:spPr>
          <a:xfrm>
            <a:off x="685800" y="3383280"/>
            <a:ext cx="128016" cy="566928"/>
          </a:xfrm>
          <a:prstGeom prst="rect">
            <a:avLst/>
          </a:prstGeom>
        </p:spPr>
      </p:pic>
      <p:pic>
        <p:nvPicPr>
          <p:cNvPr id="10" name="Image 8" descr="preencoded.png"/>
          <p:cNvPicPr>
            <a:picLocks noChangeAspect="1"/>
          </p:cNvPicPr>
          <p:nvPr/>
        </p:nvPicPr>
        <p:blipFill>
          <a:blip r:embed="rId6"/>
          <a:stretch>
            <a:fillRect/>
          </a:stretch>
        </p:blipFill>
        <p:spPr>
          <a:xfrm>
            <a:off x="685800" y="4142232"/>
            <a:ext cx="128016" cy="566928"/>
          </a:xfrm>
          <a:prstGeom prst="rect">
            <a:avLst/>
          </a:prstGeom>
        </p:spPr>
      </p:pic>
      <p:pic>
        <p:nvPicPr>
          <p:cNvPr id="11" name="Image 9" descr="preencoded.png"/>
          <p:cNvPicPr>
            <a:picLocks noChangeAspect="1"/>
          </p:cNvPicPr>
          <p:nvPr/>
        </p:nvPicPr>
        <p:blipFill>
          <a:blip r:embed="rId6"/>
          <a:stretch>
            <a:fillRect/>
          </a:stretch>
        </p:blipFill>
        <p:spPr>
          <a:xfrm>
            <a:off x="685800" y="4901184"/>
            <a:ext cx="128016" cy="566928"/>
          </a:xfrm>
          <a:prstGeom prst="rect">
            <a:avLst/>
          </a:prstGeom>
        </p:spPr>
      </p:pic>
      <p:pic>
        <p:nvPicPr>
          <p:cNvPr id="12" name="Image 10" descr="preencoded.png"/>
          <p:cNvPicPr>
            <a:picLocks noChangeAspect="1"/>
          </p:cNvPicPr>
          <p:nvPr/>
        </p:nvPicPr>
        <p:blipFill>
          <a:blip r:embed="rId6"/>
          <a:stretch>
            <a:fillRect/>
          </a:stretch>
        </p:blipFill>
        <p:spPr>
          <a:xfrm>
            <a:off x="7415784" y="3383280"/>
            <a:ext cx="128016" cy="566928"/>
          </a:xfrm>
          <a:prstGeom prst="rect">
            <a:avLst/>
          </a:prstGeom>
        </p:spPr>
      </p:pic>
      <p:sp>
        <p:nvSpPr>
          <p:cNvPr id="14" name="Text 0"/>
          <p:cNvSpPr/>
          <p:nvPr/>
        </p:nvSpPr>
        <p:spPr>
          <a:xfrm>
            <a:off x="681228" y="1065276"/>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Methodologies</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15" name="Text 1"/>
          <p:cNvSpPr/>
          <p:nvPr/>
        </p:nvSpPr>
        <p:spPr>
          <a:xfrm>
            <a:off x="978408" y="3511296"/>
            <a:ext cx="6025896" cy="320040"/>
          </a:xfrm>
          <a:prstGeom prst="rect">
            <a:avLst/>
          </a:prstGeom>
          <a:noFill/>
          <a:ln/>
        </p:spPr>
        <p:txBody>
          <a:bodyPr wrap="none" lIns="0" tIns="0" rIns="0" bIns="0" rtlCol="0" anchor="ctr"/>
          <a:lstStyle/>
          <a:p>
            <a:pPr marL="0" indent="0" algn="l">
              <a:lnSpc>
                <a:spcPts val="2450"/>
              </a:lnSpc>
              <a:buNone/>
            </a:pPr>
            <a:r>
              <a:rPr lang="en-US" sz="2400" dirty="0">
                <a:solidFill>
                  <a:srgbClr val="292D2E"/>
                </a:solidFill>
                <a:ea typeface="思源黑体-思源黑体-Medium" pitchFamily="34" charset="-122"/>
                <a:cs typeface="思源黑体-思源黑体-Medium" pitchFamily="34" charset="-120"/>
              </a:rPr>
              <a:t>Frontend : HTML, CSS, JavaScript</a:t>
            </a:r>
            <a:endParaRPr lang="en-US" sz="2400" dirty="0"/>
          </a:p>
        </p:txBody>
      </p:sp>
      <p:sp>
        <p:nvSpPr>
          <p:cNvPr id="16" name="Text 2"/>
          <p:cNvSpPr/>
          <p:nvPr/>
        </p:nvSpPr>
        <p:spPr>
          <a:xfrm>
            <a:off x="978408" y="4270248"/>
            <a:ext cx="6025896" cy="320040"/>
          </a:xfrm>
          <a:prstGeom prst="rect">
            <a:avLst/>
          </a:prstGeom>
          <a:noFill/>
          <a:ln/>
        </p:spPr>
        <p:txBody>
          <a:bodyPr wrap="none" lIns="0" tIns="0" rIns="0" bIns="0" rtlCol="0" anchor="ctr"/>
          <a:lstStyle/>
          <a:p>
            <a:pPr marL="0" indent="0" algn="l">
              <a:lnSpc>
                <a:spcPts val="2450"/>
              </a:lnSpc>
              <a:buNone/>
            </a:pPr>
            <a:r>
              <a:rPr lang="en-US" sz="2400" dirty="0">
                <a:solidFill>
                  <a:srgbClr val="292D2E"/>
                </a:solidFill>
                <a:ea typeface="思源黑体-思源黑体-Medium" pitchFamily="34" charset="-122"/>
                <a:cs typeface="思源黑体-思源黑体-Medium" pitchFamily="34" charset="-120"/>
              </a:rPr>
              <a:t>Database : MySQL</a:t>
            </a:r>
            <a:endParaRPr lang="en-US" sz="2400" dirty="0"/>
          </a:p>
        </p:txBody>
      </p:sp>
      <p:sp>
        <p:nvSpPr>
          <p:cNvPr id="17" name="Text 3"/>
          <p:cNvSpPr/>
          <p:nvPr/>
        </p:nvSpPr>
        <p:spPr>
          <a:xfrm>
            <a:off x="978408" y="5029200"/>
            <a:ext cx="12755880" cy="320040"/>
          </a:xfrm>
          <a:prstGeom prst="rect">
            <a:avLst/>
          </a:prstGeom>
          <a:noFill/>
          <a:ln/>
        </p:spPr>
        <p:txBody>
          <a:bodyPr wrap="none" lIns="0" tIns="0" rIns="0" bIns="0" rtlCol="0" anchor="ctr"/>
          <a:lstStyle/>
          <a:p>
            <a:pPr>
              <a:lnSpc>
                <a:spcPts val="2450"/>
              </a:lnSpc>
            </a:pPr>
            <a:r>
              <a:rPr lang="en-US" sz="2400" dirty="0"/>
              <a:t>Integration &amp; Testing : Connecting frontend, backend and database; testing all features.</a:t>
            </a:r>
          </a:p>
        </p:txBody>
      </p:sp>
      <p:sp>
        <p:nvSpPr>
          <p:cNvPr id="18" name="Text 4"/>
          <p:cNvSpPr/>
          <p:nvPr/>
        </p:nvSpPr>
        <p:spPr>
          <a:xfrm>
            <a:off x="7708392" y="3511296"/>
            <a:ext cx="6025896" cy="320040"/>
          </a:xfrm>
          <a:prstGeom prst="rect">
            <a:avLst/>
          </a:prstGeom>
          <a:noFill/>
          <a:ln/>
        </p:spPr>
        <p:txBody>
          <a:bodyPr wrap="none" lIns="0" tIns="0" rIns="0" bIns="0" rtlCol="0" anchor="ctr"/>
          <a:lstStyle/>
          <a:p>
            <a:pPr marL="0" indent="0" algn="l">
              <a:lnSpc>
                <a:spcPts val="2450"/>
              </a:lnSpc>
              <a:buNone/>
            </a:pPr>
            <a:r>
              <a:rPr lang="en-US" sz="2400" dirty="0">
                <a:solidFill>
                  <a:srgbClr val="292D2E"/>
                </a:solidFill>
                <a:ea typeface="思源黑体-思源黑体-Medium" pitchFamily="34" charset="-122"/>
                <a:cs typeface="思源黑体-思源黑体-Medium" pitchFamily="34" charset="-120"/>
              </a:rPr>
              <a:t>Backend : Python (Flask Framework)</a:t>
            </a:r>
            <a:endParaRPr lang="en-US" sz="2400" dirty="0"/>
          </a:p>
        </p:txBody>
      </p:sp>
      <p:sp>
        <p:nvSpPr>
          <p:cNvPr id="19" name="Text 5"/>
          <p:cNvSpPr/>
          <p:nvPr/>
        </p:nvSpPr>
        <p:spPr>
          <a:xfrm>
            <a:off x="7708392" y="4270248"/>
            <a:ext cx="6025896" cy="320040"/>
          </a:xfrm>
          <a:prstGeom prst="rect">
            <a:avLst/>
          </a:prstGeom>
          <a:noFill/>
          <a:ln/>
        </p:spPr>
        <p:txBody>
          <a:bodyPr wrap="none" lIns="0" tIns="0" rIns="0" bIns="0" rtlCol="0" anchor="ctr"/>
          <a:lstStyle/>
          <a:p>
            <a:pPr marL="0" indent="0" algn="l">
              <a:lnSpc>
                <a:spcPts val="2450"/>
              </a:lnSpc>
              <a:buNone/>
            </a:pPr>
            <a:r>
              <a:rPr lang="en-US" sz="2400" dirty="0">
                <a:solidFill>
                  <a:srgbClr val="292D2E"/>
                </a:solidFill>
                <a:ea typeface="思源黑体-思源黑体-Medium" pitchFamily="34" charset="-122"/>
                <a:cs typeface="思源黑体-思源黑体-Medium" pitchFamily="34" charset="-120"/>
              </a:rPr>
              <a:t>Implementation : Visual Studio Code</a:t>
            </a:r>
            <a:endParaRPr lang="en-US" sz="2400" dirty="0"/>
          </a:p>
        </p:txBody>
      </p:sp>
      <p:pic>
        <p:nvPicPr>
          <p:cNvPr id="20" name="Image 2" descr="preencoded.png">
            <a:extLst>
              <a:ext uri="{FF2B5EF4-FFF2-40B4-BE49-F238E27FC236}">
                <a16:creationId xmlns:a16="http://schemas.microsoft.com/office/drawing/2014/main" id="{FB727467-8F8F-421D-8D8D-A91507175165}"/>
              </a:ext>
            </a:extLst>
          </p:cNvPr>
          <p:cNvPicPr>
            <a:picLocks noChangeAspect="1"/>
          </p:cNvPicPr>
          <p:nvPr/>
        </p:nvPicPr>
        <p:blipFill>
          <a:blip r:embed="rId7"/>
          <a:stretch>
            <a:fillRect/>
          </a:stretch>
        </p:blipFill>
        <p:spPr>
          <a:xfrm>
            <a:off x="313906" y="1876807"/>
            <a:ext cx="8608670" cy="45719"/>
          </a:xfrm>
          <a:prstGeom prst="rect">
            <a:avLst/>
          </a:prstGeom>
        </p:spPr>
      </p:pic>
      <p:pic>
        <p:nvPicPr>
          <p:cNvPr id="21" name="Image 4" descr="preencoded.png">
            <a:extLst>
              <a:ext uri="{FF2B5EF4-FFF2-40B4-BE49-F238E27FC236}">
                <a16:creationId xmlns:a16="http://schemas.microsoft.com/office/drawing/2014/main" id="{33042315-25B5-407D-A78A-3239F52C89EB}"/>
              </a:ext>
            </a:extLst>
          </p:cNvPr>
          <p:cNvPicPr>
            <a:picLocks noChangeAspect="1"/>
          </p:cNvPicPr>
          <p:nvPr/>
        </p:nvPicPr>
        <p:blipFill>
          <a:blip r:embed="rId5"/>
          <a:stretch>
            <a:fillRect/>
          </a:stretch>
        </p:blipFill>
        <p:spPr>
          <a:xfrm>
            <a:off x="685800" y="5596128"/>
            <a:ext cx="13267944" cy="566928"/>
          </a:xfrm>
          <a:prstGeom prst="rect">
            <a:avLst/>
          </a:prstGeom>
        </p:spPr>
      </p:pic>
      <p:pic>
        <p:nvPicPr>
          <p:cNvPr id="22" name="Image 9" descr="preencoded.png">
            <a:extLst>
              <a:ext uri="{FF2B5EF4-FFF2-40B4-BE49-F238E27FC236}">
                <a16:creationId xmlns:a16="http://schemas.microsoft.com/office/drawing/2014/main" id="{3171B060-37D0-48DC-856B-509F8BBE5054}"/>
              </a:ext>
            </a:extLst>
          </p:cNvPr>
          <p:cNvPicPr>
            <a:picLocks noChangeAspect="1"/>
          </p:cNvPicPr>
          <p:nvPr/>
        </p:nvPicPr>
        <p:blipFill>
          <a:blip r:embed="rId6"/>
          <a:stretch>
            <a:fillRect/>
          </a:stretch>
        </p:blipFill>
        <p:spPr>
          <a:xfrm>
            <a:off x="710184" y="5591440"/>
            <a:ext cx="128016" cy="566928"/>
          </a:xfrm>
          <a:prstGeom prst="rect">
            <a:avLst/>
          </a:prstGeom>
        </p:spPr>
      </p:pic>
      <p:sp>
        <p:nvSpPr>
          <p:cNvPr id="23" name="Text 3">
            <a:extLst>
              <a:ext uri="{FF2B5EF4-FFF2-40B4-BE49-F238E27FC236}">
                <a16:creationId xmlns:a16="http://schemas.microsoft.com/office/drawing/2014/main" id="{07F7816F-67CC-4386-B0D5-34BB412B69F4}"/>
              </a:ext>
            </a:extLst>
          </p:cNvPr>
          <p:cNvSpPr/>
          <p:nvPr/>
        </p:nvSpPr>
        <p:spPr>
          <a:xfrm>
            <a:off x="978408" y="5714884"/>
            <a:ext cx="12755880" cy="320040"/>
          </a:xfrm>
          <a:prstGeom prst="rect">
            <a:avLst/>
          </a:prstGeom>
          <a:noFill/>
          <a:ln/>
        </p:spPr>
        <p:txBody>
          <a:bodyPr wrap="none" lIns="0" tIns="0" rIns="0" bIns="0" rtlCol="0" anchor="ctr"/>
          <a:lstStyle/>
          <a:p>
            <a:pPr>
              <a:lnSpc>
                <a:spcPts val="2450"/>
              </a:lnSpc>
            </a:pPr>
            <a:r>
              <a:rPr lang="en-US" sz="2400" dirty="0"/>
              <a:t>Hosting : </a:t>
            </a:r>
            <a:r>
              <a:rPr lang="en-US" sz="2400" dirty="0" err="1"/>
              <a:t>Github</a:t>
            </a:r>
            <a:r>
              <a:rPr lang="en-US" sz="2400" dirty="0"/>
              <a:t>/</a:t>
            </a:r>
            <a:r>
              <a:rPr lang="en-US" sz="2400" dirty="0" err="1"/>
              <a:t>Netlify</a:t>
            </a:r>
            <a:r>
              <a:rPr lang="en-US" sz="2400" dirty="0"/>
              <a:t>.</a:t>
            </a:r>
          </a:p>
        </p:txBody>
      </p:sp>
      <p:sp>
        <p:nvSpPr>
          <p:cNvPr id="24" name="Rectangle 23">
            <a:extLst>
              <a:ext uri="{FF2B5EF4-FFF2-40B4-BE49-F238E27FC236}">
                <a16:creationId xmlns:a16="http://schemas.microsoft.com/office/drawing/2014/main" id="{129178D6-F41F-4AE2-96D0-FB8BB47DD7F3}"/>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pic>
        <p:nvPicPr>
          <p:cNvPr id="25" name="Image 10" descr="preencoded.png">
            <a:extLst>
              <a:ext uri="{FF2B5EF4-FFF2-40B4-BE49-F238E27FC236}">
                <a16:creationId xmlns:a16="http://schemas.microsoft.com/office/drawing/2014/main" id="{50996446-EE20-4A25-AEE9-951ABF705D5B}"/>
              </a:ext>
            </a:extLst>
          </p:cNvPr>
          <p:cNvPicPr>
            <a:picLocks noChangeAspect="1"/>
          </p:cNvPicPr>
          <p:nvPr/>
        </p:nvPicPr>
        <p:blipFill>
          <a:blip r:embed="rId6"/>
          <a:stretch>
            <a:fillRect/>
          </a:stretch>
        </p:blipFill>
        <p:spPr>
          <a:xfrm>
            <a:off x="7424928" y="4134971"/>
            <a:ext cx="128016" cy="5669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19A1BF37-E8DE-404F-8009-A98D26F52277}"/>
              </a:ext>
            </a:extLst>
          </p:cNvPr>
          <p:cNvPicPr>
            <a:picLocks noChangeAspect="1"/>
          </p:cNvPicPr>
          <p:nvPr/>
        </p:nvPicPr>
        <p:blipFill>
          <a:blip r:embed="rId2"/>
          <a:stretch>
            <a:fillRect/>
          </a:stretch>
        </p:blipFill>
        <p:spPr>
          <a:xfrm>
            <a:off x="0" y="-9144"/>
            <a:ext cx="14630400" cy="8238744"/>
          </a:xfrm>
          <a:prstGeom prst="rect">
            <a:avLst/>
          </a:prstGeom>
        </p:spPr>
      </p:pic>
      <p:sp>
        <p:nvSpPr>
          <p:cNvPr id="3" name="Text 0">
            <a:extLst>
              <a:ext uri="{FF2B5EF4-FFF2-40B4-BE49-F238E27FC236}">
                <a16:creationId xmlns:a16="http://schemas.microsoft.com/office/drawing/2014/main" id="{24D6B44E-CCA3-4020-8BF3-FAE4CBF5D90C}"/>
              </a:ext>
            </a:extLst>
          </p:cNvPr>
          <p:cNvSpPr/>
          <p:nvPr/>
        </p:nvSpPr>
        <p:spPr>
          <a:xfrm>
            <a:off x="778047" y="473874"/>
            <a:ext cx="13267944" cy="612648"/>
          </a:xfrm>
          <a:prstGeom prst="rect">
            <a:avLst/>
          </a:prstGeom>
          <a:noFill/>
          <a:ln/>
        </p:spPr>
        <p:txBody>
          <a:bodyPr wrap="none" lIns="0" tIns="0" rIns="0" bIns="0" rtlCol="0" anchor="ctr"/>
          <a:lstStyle/>
          <a:p>
            <a:pPr>
              <a:lnSpc>
                <a:spcPts val="4800"/>
              </a:lnSpc>
            </a:pPr>
            <a:r>
              <a:rPr lang="en-US" sz="3600" dirty="0">
                <a:solidFill>
                  <a:srgbClr val="002060"/>
                </a:solidFill>
                <a:latin typeface="Yu Gothic UI Semilight" panose="020B0400000000000000" pitchFamily="34" charset="-128"/>
                <a:ea typeface="Yu Gothic UI Semilight" panose="020B0400000000000000" pitchFamily="34" charset="-128"/>
              </a:rPr>
              <a:t>System Features &amp; Workflow</a:t>
            </a:r>
          </a:p>
        </p:txBody>
      </p:sp>
      <p:pic>
        <p:nvPicPr>
          <p:cNvPr id="4" name="Image 2" descr="preencoded.png">
            <a:extLst>
              <a:ext uri="{FF2B5EF4-FFF2-40B4-BE49-F238E27FC236}">
                <a16:creationId xmlns:a16="http://schemas.microsoft.com/office/drawing/2014/main" id="{78BB9AE8-EFA7-42FC-B52D-0F798845186B}"/>
              </a:ext>
            </a:extLst>
          </p:cNvPr>
          <p:cNvPicPr>
            <a:picLocks noChangeAspect="1"/>
          </p:cNvPicPr>
          <p:nvPr/>
        </p:nvPicPr>
        <p:blipFill>
          <a:blip r:embed="rId3"/>
          <a:stretch>
            <a:fillRect/>
          </a:stretch>
        </p:blipFill>
        <p:spPr>
          <a:xfrm>
            <a:off x="313906" y="1274378"/>
            <a:ext cx="8608670" cy="45719"/>
          </a:xfrm>
          <a:prstGeom prst="rect">
            <a:avLst/>
          </a:prstGeom>
        </p:spPr>
      </p:pic>
      <p:sp>
        <p:nvSpPr>
          <p:cNvPr id="5" name="TextBox 4">
            <a:extLst>
              <a:ext uri="{FF2B5EF4-FFF2-40B4-BE49-F238E27FC236}">
                <a16:creationId xmlns:a16="http://schemas.microsoft.com/office/drawing/2014/main" id="{2D186321-E7BD-436D-BE2F-C34C39AF13F5}"/>
              </a:ext>
            </a:extLst>
          </p:cNvPr>
          <p:cNvSpPr txBox="1"/>
          <p:nvPr/>
        </p:nvSpPr>
        <p:spPr>
          <a:xfrm>
            <a:off x="595167" y="1361299"/>
            <a:ext cx="4536231" cy="461665"/>
          </a:xfrm>
          <a:prstGeom prst="rect">
            <a:avLst/>
          </a:prstGeom>
          <a:noFill/>
        </p:spPr>
        <p:txBody>
          <a:bodyPr wrap="square" rtlCol="0">
            <a:spAutoFit/>
          </a:bodyPr>
          <a:lstStyle/>
          <a:p>
            <a:r>
              <a:rPr lang="en-US" sz="2400" b="1" u="sng" dirty="0"/>
              <a:t>System Overview </a:t>
            </a:r>
            <a:r>
              <a:rPr lang="en-US" sz="2400" b="1" dirty="0"/>
              <a:t>:</a:t>
            </a:r>
          </a:p>
        </p:txBody>
      </p:sp>
      <p:sp>
        <p:nvSpPr>
          <p:cNvPr id="6" name="TextBox 5">
            <a:extLst>
              <a:ext uri="{FF2B5EF4-FFF2-40B4-BE49-F238E27FC236}">
                <a16:creationId xmlns:a16="http://schemas.microsoft.com/office/drawing/2014/main" id="{72FDB22F-2370-4144-94CC-00BD9B6AFEEF}"/>
              </a:ext>
            </a:extLst>
          </p:cNvPr>
          <p:cNvSpPr txBox="1"/>
          <p:nvPr/>
        </p:nvSpPr>
        <p:spPr>
          <a:xfrm>
            <a:off x="595166" y="1786164"/>
            <a:ext cx="12141887" cy="1200329"/>
          </a:xfrm>
          <a:prstGeom prst="rect">
            <a:avLst/>
          </a:prstGeom>
          <a:noFill/>
        </p:spPr>
        <p:txBody>
          <a:bodyPr wrap="square" rtlCol="0">
            <a:spAutoFit/>
          </a:bodyPr>
          <a:lstStyle/>
          <a:p>
            <a:r>
              <a:rPr lang="en-US" sz="2400" dirty="0"/>
              <a:t>The Health Management System is a web-based platform. It starts with a </a:t>
            </a:r>
            <a:r>
              <a:rPr lang="en-US" sz="2400" b="1" dirty="0"/>
              <a:t>signup</a:t>
            </a:r>
            <a:r>
              <a:rPr lang="en-US" sz="2400" dirty="0"/>
              <a:t> option for new users and a </a:t>
            </a:r>
            <a:r>
              <a:rPr lang="en-US" sz="2400" b="1" dirty="0"/>
              <a:t>login</a:t>
            </a:r>
            <a:r>
              <a:rPr lang="en-US" sz="2400" dirty="0"/>
              <a:t> option for registered users. After signing up or logging in, the main page displays the navigation menu: Home, About, Services, Doctors’ Contact.</a:t>
            </a:r>
          </a:p>
        </p:txBody>
      </p:sp>
      <p:sp>
        <p:nvSpPr>
          <p:cNvPr id="7" name="TextBox 6">
            <a:extLst>
              <a:ext uri="{FF2B5EF4-FFF2-40B4-BE49-F238E27FC236}">
                <a16:creationId xmlns:a16="http://schemas.microsoft.com/office/drawing/2014/main" id="{BAAB58E8-CDB3-4903-ABCC-DFD46C29000F}"/>
              </a:ext>
            </a:extLst>
          </p:cNvPr>
          <p:cNvSpPr txBox="1"/>
          <p:nvPr/>
        </p:nvSpPr>
        <p:spPr>
          <a:xfrm>
            <a:off x="595165" y="2977012"/>
            <a:ext cx="9054442" cy="461665"/>
          </a:xfrm>
          <a:prstGeom prst="rect">
            <a:avLst/>
          </a:prstGeom>
          <a:noFill/>
        </p:spPr>
        <p:txBody>
          <a:bodyPr wrap="square" rtlCol="0">
            <a:spAutoFit/>
          </a:bodyPr>
          <a:lstStyle/>
          <a:p>
            <a:r>
              <a:rPr lang="en-US" sz="2400" b="1" u="sng" dirty="0"/>
              <a:t>Pages and Features </a:t>
            </a:r>
            <a:r>
              <a:rPr lang="en-US" sz="2400" b="1" dirty="0"/>
              <a:t>:</a:t>
            </a:r>
          </a:p>
        </p:txBody>
      </p:sp>
      <p:sp>
        <p:nvSpPr>
          <p:cNvPr id="8" name="TextBox 7">
            <a:extLst>
              <a:ext uri="{FF2B5EF4-FFF2-40B4-BE49-F238E27FC236}">
                <a16:creationId xmlns:a16="http://schemas.microsoft.com/office/drawing/2014/main" id="{35267D13-5804-4B3B-8FCC-0E96ED68F435}"/>
              </a:ext>
            </a:extLst>
          </p:cNvPr>
          <p:cNvSpPr txBox="1"/>
          <p:nvPr/>
        </p:nvSpPr>
        <p:spPr>
          <a:xfrm>
            <a:off x="595167" y="3345628"/>
            <a:ext cx="13045529" cy="1200329"/>
          </a:xfrm>
          <a:prstGeom prst="rect">
            <a:avLst/>
          </a:prstGeom>
          <a:noFill/>
        </p:spPr>
        <p:txBody>
          <a:bodyPr wrap="square" rtlCol="0">
            <a:spAutoFit/>
          </a:bodyPr>
          <a:lstStyle/>
          <a:p>
            <a:r>
              <a:rPr lang="en-US" sz="2400" b="1" dirty="0"/>
              <a:t>Home Page -</a:t>
            </a:r>
            <a:endParaRPr lang="en-US" sz="2400" dirty="0"/>
          </a:p>
          <a:p>
            <a:r>
              <a:rPr lang="en-US" sz="2400" dirty="0"/>
              <a:t>Welcome message: </a:t>
            </a:r>
            <a:r>
              <a:rPr lang="en-US" sz="2400" i="1" dirty="0"/>
              <a:t>“</a:t>
            </a:r>
            <a:r>
              <a:rPr lang="en-US" sz="2400" dirty="0"/>
              <a:t>WELCOME TO OUR HEALTH MANAGEMENT SYSTEM</a:t>
            </a:r>
            <a:r>
              <a:rPr lang="en-US" sz="2400" i="1" dirty="0"/>
              <a:t>”</a:t>
            </a:r>
            <a:endParaRPr lang="en-US" sz="2400" dirty="0"/>
          </a:p>
          <a:p>
            <a:r>
              <a:rPr lang="en-US" sz="2400" dirty="0"/>
              <a:t>View all services of the system. </a:t>
            </a:r>
          </a:p>
        </p:txBody>
      </p:sp>
      <p:sp>
        <p:nvSpPr>
          <p:cNvPr id="9" name="TextBox 8">
            <a:extLst>
              <a:ext uri="{FF2B5EF4-FFF2-40B4-BE49-F238E27FC236}">
                <a16:creationId xmlns:a16="http://schemas.microsoft.com/office/drawing/2014/main" id="{DC9E2F46-4E5F-43CB-88F1-EA01C34BF86D}"/>
              </a:ext>
            </a:extLst>
          </p:cNvPr>
          <p:cNvSpPr txBox="1"/>
          <p:nvPr/>
        </p:nvSpPr>
        <p:spPr>
          <a:xfrm>
            <a:off x="595167" y="4545957"/>
            <a:ext cx="11765369" cy="1107996"/>
          </a:xfrm>
          <a:prstGeom prst="rect">
            <a:avLst/>
          </a:prstGeom>
          <a:noFill/>
        </p:spPr>
        <p:txBody>
          <a:bodyPr wrap="square" rtlCol="0">
            <a:spAutoFit/>
          </a:bodyPr>
          <a:lstStyle/>
          <a:p>
            <a:r>
              <a:rPr lang="en-US" sz="2400" b="1" dirty="0"/>
              <a:t>About Page -</a:t>
            </a:r>
            <a:endParaRPr lang="en-US" sz="2400" dirty="0"/>
          </a:p>
          <a:p>
            <a:r>
              <a:rPr lang="en-US" sz="2400" dirty="0"/>
              <a:t>Highlights our system as a one-stop destination for practical health tips and guidance.</a:t>
            </a:r>
          </a:p>
          <a:p>
            <a:endParaRPr lang="en-US" dirty="0"/>
          </a:p>
        </p:txBody>
      </p:sp>
      <p:sp>
        <p:nvSpPr>
          <p:cNvPr id="10" name="TextBox 9">
            <a:extLst>
              <a:ext uri="{FF2B5EF4-FFF2-40B4-BE49-F238E27FC236}">
                <a16:creationId xmlns:a16="http://schemas.microsoft.com/office/drawing/2014/main" id="{F0617C48-EA94-4C8C-B30E-D48F98DDD8C4}"/>
              </a:ext>
            </a:extLst>
          </p:cNvPr>
          <p:cNvSpPr txBox="1"/>
          <p:nvPr/>
        </p:nvSpPr>
        <p:spPr>
          <a:xfrm>
            <a:off x="595165" y="5335440"/>
            <a:ext cx="10886739" cy="2215991"/>
          </a:xfrm>
          <a:prstGeom prst="rect">
            <a:avLst/>
          </a:prstGeom>
          <a:noFill/>
        </p:spPr>
        <p:txBody>
          <a:bodyPr wrap="square" rtlCol="0">
            <a:spAutoFit/>
          </a:bodyPr>
          <a:lstStyle/>
          <a:p>
            <a:r>
              <a:rPr lang="en-US" sz="2400" b="1" dirty="0"/>
              <a:t>Services Page -</a:t>
            </a:r>
            <a:endParaRPr lang="en-US" sz="2400" dirty="0"/>
          </a:p>
          <a:p>
            <a:r>
              <a:rPr lang="en-US" sz="2400" dirty="0"/>
              <a:t>Detailed forms for Nutrition Tracking, Medication History Tracker, Symptom Tracker, Appointment Scheduler and Fitness Plans.</a:t>
            </a:r>
          </a:p>
          <a:p>
            <a:r>
              <a:rPr lang="en-US" sz="2400" dirty="0"/>
              <a:t>Each service has input fields, submission buttons and a data table to display user entries.</a:t>
            </a:r>
          </a:p>
          <a:p>
            <a:endParaRPr lang="en-US" dirty="0"/>
          </a:p>
        </p:txBody>
      </p:sp>
      <p:sp>
        <p:nvSpPr>
          <p:cNvPr id="13" name="Rectangle 12">
            <a:extLst>
              <a:ext uri="{FF2B5EF4-FFF2-40B4-BE49-F238E27FC236}">
                <a16:creationId xmlns:a16="http://schemas.microsoft.com/office/drawing/2014/main" id="{3412D999-3199-4234-B4FD-ACF2FC04B822}"/>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Tree>
    <p:extLst>
      <p:ext uri="{BB962C8B-B14F-4D97-AF65-F5344CB8AC3E}">
        <p14:creationId xmlns:p14="http://schemas.microsoft.com/office/powerpoint/2010/main" val="3968327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0" descr="preencoded.png">
            <a:extLst>
              <a:ext uri="{FF2B5EF4-FFF2-40B4-BE49-F238E27FC236}">
                <a16:creationId xmlns:a16="http://schemas.microsoft.com/office/drawing/2014/main" id="{E87760AB-E689-48BF-80DD-AD17B05DBCDB}"/>
              </a:ext>
            </a:extLst>
          </p:cNvPr>
          <p:cNvPicPr>
            <a:picLocks noChangeAspect="1"/>
          </p:cNvPicPr>
          <p:nvPr/>
        </p:nvPicPr>
        <p:blipFill>
          <a:blip r:embed="rId2"/>
          <a:stretch>
            <a:fillRect/>
          </a:stretch>
        </p:blipFill>
        <p:spPr>
          <a:xfrm>
            <a:off x="0" y="-9144"/>
            <a:ext cx="14630400" cy="8238744"/>
          </a:xfrm>
          <a:prstGeom prst="rect">
            <a:avLst/>
          </a:prstGeom>
        </p:spPr>
      </p:pic>
      <p:sp>
        <p:nvSpPr>
          <p:cNvPr id="3" name="TextBox 2">
            <a:extLst>
              <a:ext uri="{FF2B5EF4-FFF2-40B4-BE49-F238E27FC236}">
                <a16:creationId xmlns:a16="http://schemas.microsoft.com/office/drawing/2014/main" id="{E8589C02-F8C3-4FC6-AE7F-4124323BC3FA}"/>
              </a:ext>
            </a:extLst>
          </p:cNvPr>
          <p:cNvSpPr txBox="1"/>
          <p:nvPr/>
        </p:nvSpPr>
        <p:spPr>
          <a:xfrm>
            <a:off x="623944" y="419548"/>
            <a:ext cx="7261411" cy="461665"/>
          </a:xfrm>
          <a:prstGeom prst="rect">
            <a:avLst/>
          </a:prstGeom>
          <a:noFill/>
        </p:spPr>
        <p:txBody>
          <a:bodyPr wrap="square" rtlCol="0">
            <a:spAutoFit/>
          </a:bodyPr>
          <a:lstStyle/>
          <a:p>
            <a:r>
              <a:rPr lang="en-US" sz="2400" b="1" u="sng" dirty="0"/>
              <a:t>SERVICES – Detailed Functions </a:t>
            </a:r>
            <a:r>
              <a:rPr lang="en-US" sz="2400" b="1" dirty="0"/>
              <a:t>:-</a:t>
            </a:r>
          </a:p>
        </p:txBody>
      </p:sp>
      <p:sp>
        <p:nvSpPr>
          <p:cNvPr id="4" name="TextBox 3">
            <a:extLst>
              <a:ext uri="{FF2B5EF4-FFF2-40B4-BE49-F238E27FC236}">
                <a16:creationId xmlns:a16="http://schemas.microsoft.com/office/drawing/2014/main" id="{43C1EFD6-2319-4C2A-8E01-05660BC78EAB}"/>
              </a:ext>
            </a:extLst>
          </p:cNvPr>
          <p:cNvSpPr txBox="1"/>
          <p:nvPr/>
        </p:nvSpPr>
        <p:spPr>
          <a:xfrm>
            <a:off x="623944" y="988790"/>
            <a:ext cx="12306748" cy="4524315"/>
          </a:xfrm>
          <a:prstGeom prst="rect">
            <a:avLst/>
          </a:prstGeom>
          <a:noFill/>
        </p:spPr>
        <p:txBody>
          <a:bodyPr wrap="square" rtlCol="0">
            <a:spAutoFit/>
          </a:bodyPr>
          <a:lstStyle/>
          <a:p>
            <a:pPr marL="342900" indent="-342900">
              <a:buAutoNum type="arabicPeriod"/>
            </a:pPr>
            <a:r>
              <a:rPr lang="en-US" sz="2400" b="1" dirty="0"/>
              <a:t>Nutrition Tracking </a:t>
            </a:r>
            <a:r>
              <a:rPr lang="en-US" sz="2400" dirty="0"/>
              <a:t>- Add record of food consumption &amp; display all recorded food items with date and calories. </a:t>
            </a:r>
          </a:p>
          <a:p>
            <a:pPr marL="342900" indent="-342900">
              <a:buAutoNum type="arabicPeriod"/>
            </a:pPr>
            <a:r>
              <a:rPr lang="en-US" sz="2400" b="1" dirty="0"/>
              <a:t>Medication History Tracker </a:t>
            </a:r>
            <a:r>
              <a:rPr lang="en-US" sz="2400" dirty="0"/>
              <a:t>- Maintain complete medication history &amp; track exercise patterns alongside medications.</a:t>
            </a:r>
          </a:p>
          <a:p>
            <a:pPr marL="342900" indent="-342900">
              <a:buAutoNum type="arabicPeriod"/>
            </a:pPr>
            <a:r>
              <a:rPr lang="en-US" sz="2400" b="1" dirty="0"/>
              <a:t>Symptom Tracker </a:t>
            </a:r>
            <a:r>
              <a:rPr lang="en-US" sz="2400" dirty="0"/>
              <a:t>- Log symptoms daily &amp; create a personal symptom history for medical reference.</a:t>
            </a:r>
          </a:p>
          <a:p>
            <a:pPr marL="342900" indent="-342900">
              <a:buAutoNum type="arabicPeriod"/>
            </a:pPr>
            <a:r>
              <a:rPr lang="en-US" sz="2400" b="1" dirty="0"/>
              <a:t>Appointment Scheduler </a:t>
            </a:r>
            <a:r>
              <a:rPr lang="en-US" sz="2400" dirty="0"/>
              <a:t>- Add new appointments &amp; view upcoming appointments in a table format.</a:t>
            </a:r>
          </a:p>
          <a:p>
            <a:pPr marL="342900" indent="-342900">
              <a:buAutoNum type="arabicPeriod"/>
            </a:pPr>
            <a:r>
              <a:rPr lang="en-US" sz="2400" b="1" dirty="0"/>
              <a:t>Fitness Plans </a:t>
            </a:r>
            <a:r>
              <a:rPr lang="en-US" sz="2400" dirty="0"/>
              <a:t>- Track exercise duration and frequency &amp; view in table format.</a:t>
            </a:r>
          </a:p>
          <a:p>
            <a:pPr marL="342900" indent="-342900">
              <a:buAutoNum type="arabicPeriod"/>
            </a:pPr>
            <a:r>
              <a:rPr lang="en-US" sz="2400" b="1" dirty="0"/>
              <a:t>Wellness Tips &amp; Articles </a:t>
            </a:r>
            <a:r>
              <a:rPr lang="en-US" sz="2400" dirty="0"/>
              <a:t>- Tips on stress management, hygiene, hydration, screen time reduction, balanced meals and regular check-ups. Access to health-related articles such as “The Importance of Sleep” &amp; “Exercise and Mental Health.”</a:t>
            </a:r>
          </a:p>
        </p:txBody>
      </p:sp>
      <p:sp>
        <p:nvSpPr>
          <p:cNvPr id="7" name="TextBox 6">
            <a:extLst>
              <a:ext uri="{FF2B5EF4-FFF2-40B4-BE49-F238E27FC236}">
                <a16:creationId xmlns:a16="http://schemas.microsoft.com/office/drawing/2014/main" id="{ECE2336D-064A-4E7F-B15D-4D47A29F9080}"/>
              </a:ext>
            </a:extLst>
          </p:cNvPr>
          <p:cNvSpPr txBox="1"/>
          <p:nvPr/>
        </p:nvSpPr>
        <p:spPr>
          <a:xfrm>
            <a:off x="623944" y="5620682"/>
            <a:ext cx="9950824" cy="461665"/>
          </a:xfrm>
          <a:prstGeom prst="rect">
            <a:avLst/>
          </a:prstGeom>
          <a:noFill/>
        </p:spPr>
        <p:txBody>
          <a:bodyPr wrap="square" rtlCol="0">
            <a:spAutoFit/>
          </a:bodyPr>
          <a:lstStyle/>
          <a:p>
            <a:r>
              <a:rPr lang="en-US" sz="2400" b="1" dirty="0"/>
              <a:t>Doctors’ Contact Page -</a:t>
            </a:r>
          </a:p>
        </p:txBody>
      </p:sp>
      <p:sp>
        <p:nvSpPr>
          <p:cNvPr id="8" name="TextBox 7">
            <a:extLst>
              <a:ext uri="{FF2B5EF4-FFF2-40B4-BE49-F238E27FC236}">
                <a16:creationId xmlns:a16="http://schemas.microsoft.com/office/drawing/2014/main" id="{C2AEAEB5-E9B5-4C25-887D-9FC5CD65E55E}"/>
              </a:ext>
            </a:extLst>
          </p:cNvPr>
          <p:cNvSpPr txBox="1"/>
          <p:nvPr/>
        </p:nvSpPr>
        <p:spPr>
          <a:xfrm>
            <a:off x="623944" y="5959091"/>
            <a:ext cx="9391426" cy="461665"/>
          </a:xfrm>
          <a:prstGeom prst="rect">
            <a:avLst/>
          </a:prstGeom>
          <a:noFill/>
        </p:spPr>
        <p:txBody>
          <a:bodyPr wrap="square" rtlCol="0">
            <a:spAutoFit/>
          </a:bodyPr>
          <a:lstStyle/>
          <a:p>
            <a:r>
              <a:rPr lang="en-US" sz="2400" dirty="0"/>
              <a:t>List of doctors with contact details for scheduling appointments.</a:t>
            </a:r>
          </a:p>
        </p:txBody>
      </p:sp>
      <p:sp>
        <p:nvSpPr>
          <p:cNvPr id="9" name="TextBox 8">
            <a:extLst>
              <a:ext uri="{FF2B5EF4-FFF2-40B4-BE49-F238E27FC236}">
                <a16:creationId xmlns:a16="http://schemas.microsoft.com/office/drawing/2014/main" id="{902A8A71-FA7D-4B22-94DE-9CCEF9275D8E}"/>
              </a:ext>
            </a:extLst>
          </p:cNvPr>
          <p:cNvSpPr txBox="1"/>
          <p:nvPr/>
        </p:nvSpPr>
        <p:spPr>
          <a:xfrm>
            <a:off x="623944" y="6420756"/>
            <a:ext cx="5981251" cy="461665"/>
          </a:xfrm>
          <a:prstGeom prst="rect">
            <a:avLst/>
          </a:prstGeom>
          <a:noFill/>
        </p:spPr>
        <p:txBody>
          <a:bodyPr wrap="square" rtlCol="0">
            <a:spAutoFit/>
          </a:bodyPr>
          <a:lstStyle/>
          <a:p>
            <a:r>
              <a:rPr lang="en-US" sz="2400" b="1" u="sng" dirty="0"/>
              <a:t>Backend &amp; Security :</a:t>
            </a:r>
          </a:p>
        </p:txBody>
      </p:sp>
      <p:sp>
        <p:nvSpPr>
          <p:cNvPr id="10" name="TextBox 9">
            <a:extLst>
              <a:ext uri="{FF2B5EF4-FFF2-40B4-BE49-F238E27FC236}">
                <a16:creationId xmlns:a16="http://schemas.microsoft.com/office/drawing/2014/main" id="{B42D2E32-6973-4870-B3C2-FFE9B0351208}"/>
              </a:ext>
            </a:extLst>
          </p:cNvPr>
          <p:cNvSpPr txBox="1"/>
          <p:nvPr/>
        </p:nvSpPr>
        <p:spPr>
          <a:xfrm>
            <a:off x="623944" y="6858133"/>
            <a:ext cx="12199172" cy="461665"/>
          </a:xfrm>
          <a:prstGeom prst="rect">
            <a:avLst/>
          </a:prstGeom>
          <a:noFill/>
        </p:spPr>
        <p:txBody>
          <a:bodyPr wrap="square" rtlCol="0">
            <a:spAutoFit/>
          </a:bodyPr>
          <a:lstStyle/>
          <a:p>
            <a:r>
              <a:rPr lang="en-US" sz="2400" dirty="0"/>
              <a:t>Secure login and signup with authentication and encrypted storage of user health data.</a:t>
            </a:r>
          </a:p>
        </p:txBody>
      </p:sp>
      <p:sp>
        <p:nvSpPr>
          <p:cNvPr id="12" name="Rectangle 11">
            <a:extLst>
              <a:ext uri="{FF2B5EF4-FFF2-40B4-BE49-F238E27FC236}">
                <a16:creationId xmlns:a16="http://schemas.microsoft.com/office/drawing/2014/main" id="{626E16E6-7CC2-43DF-921A-1F6D024C4263}"/>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Tree>
    <p:extLst>
      <p:ext uri="{BB962C8B-B14F-4D97-AF65-F5344CB8AC3E}">
        <p14:creationId xmlns:p14="http://schemas.microsoft.com/office/powerpoint/2010/main" val="1961048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961357" y="2171207"/>
            <a:ext cx="9450806" cy="768096"/>
          </a:xfrm>
          <a:prstGeom prst="rect">
            <a:avLst/>
          </a:prstGeom>
        </p:spPr>
      </p:pic>
      <p:pic>
        <p:nvPicPr>
          <p:cNvPr id="5" name="Image 3" descr="preencoded.png"/>
          <p:cNvPicPr>
            <a:picLocks noChangeAspect="1"/>
          </p:cNvPicPr>
          <p:nvPr/>
        </p:nvPicPr>
        <p:blipFill>
          <a:blip r:embed="rId4"/>
          <a:stretch>
            <a:fillRect/>
          </a:stretch>
        </p:blipFill>
        <p:spPr>
          <a:xfrm>
            <a:off x="961356" y="3110645"/>
            <a:ext cx="9450807" cy="768096"/>
          </a:xfrm>
          <a:prstGeom prst="rect">
            <a:avLst/>
          </a:prstGeom>
        </p:spPr>
      </p:pic>
      <p:pic>
        <p:nvPicPr>
          <p:cNvPr id="6" name="Image 4" descr="preencoded.png"/>
          <p:cNvPicPr>
            <a:picLocks noChangeAspect="1"/>
          </p:cNvPicPr>
          <p:nvPr/>
        </p:nvPicPr>
        <p:blipFill>
          <a:blip r:embed="rId4"/>
          <a:stretch>
            <a:fillRect/>
          </a:stretch>
        </p:blipFill>
        <p:spPr>
          <a:xfrm>
            <a:off x="961356" y="4043416"/>
            <a:ext cx="9450806" cy="768096"/>
          </a:xfrm>
          <a:prstGeom prst="rect">
            <a:avLst/>
          </a:prstGeom>
        </p:spPr>
      </p:pic>
      <p:sp>
        <p:nvSpPr>
          <p:cNvPr id="7" name="Text 0"/>
          <p:cNvSpPr/>
          <p:nvPr/>
        </p:nvSpPr>
        <p:spPr>
          <a:xfrm>
            <a:off x="1145475" y="1132777"/>
            <a:ext cx="8293608"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Expected Outcomes</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8" name="Text 1"/>
          <p:cNvSpPr/>
          <p:nvPr/>
        </p:nvSpPr>
        <p:spPr>
          <a:xfrm>
            <a:off x="1145475" y="2414225"/>
            <a:ext cx="7845552" cy="320040"/>
          </a:xfrm>
          <a:prstGeom prst="rect">
            <a:avLst/>
          </a:prstGeom>
          <a:noFill/>
          <a:ln/>
        </p:spPr>
        <p:txBody>
          <a:bodyPr wrap="none" lIns="0" tIns="0" rIns="0" bIns="0" rtlCol="0" anchor="ctr"/>
          <a:lstStyle/>
          <a:p>
            <a:pPr>
              <a:lnSpc>
                <a:spcPts val="2450"/>
              </a:lnSpc>
            </a:pPr>
            <a:r>
              <a:rPr lang="en-US" sz="2400" dirty="0"/>
              <a:t>A fully functional web application with all listed features.</a:t>
            </a:r>
          </a:p>
        </p:txBody>
      </p:sp>
      <p:sp>
        <p:nvSpPr>
          <p:cNvPr id="9" name="Text 2"/>
          <p:cNvSpPr/>
          <p:nvPr/>
        </p:nvSpPr>
        <p:spPr>
          <a:xfrm>
            <a:off x="1145475" y="3321985"/>
            <a:ext cx="8065008" cy="329182"/>
          </a:xfrm>
          <a:prstGeom prst="rect">
            <a:avLst/>
          </a:prstGeom>
          <a:noFill/>
          <a:ln/>
        </p:spPr>
        <p:txBody>
          <a:bodyPr wrap="none" lIns="0" tIns="0" rIns="0" bIns="0" rtlCol="0" anchor="ctr"/>
          <a:lstStyle/>
          <a:p>
            <a:pPr>
              <a:lnSpc>
                <a:spcPts val="2450"/>
              </a:lnSpc>
            </a:pPr>
            <a:r>
              <a:rPr lang="en-US" sz="2400" dirty="0"/>
              <a:t>Easy-to-use interface enabling users to manage their health information.</a:t>
            </a:r>
          </a:p>
        </p:txBody>
      </p:sp>
      <p:sp>
        <p:nvSpPr>
          <p:cNvPr id="10" name="Text 3"/>
          <p:cNvSpPr/>
          <p:nvPr/>
        </p:nvSpPr>
        <p:spPr>
          <a:xfrm>
            <a:off x="1145475" y="4256572"/>
            <a:ext cx="7845552" cy="320040"/>
          </a:xfrm>
          <a:prstGeom prst="rect">
            <a:avLst/>
          </a:prstGeom>
          <a:noFill/>
          <a:ln/>
        </p:spPr>
        <p:txBody>
          <a:bodyPr wrap="none" lIns="0" tIns="0" rIns="0" bIns="0" rtlCol="0" anchor="ctr"/>
          <a:lstStyle/>
          <a:p>
            <a:pPr>
              <a:lnSpc>
                <a:spcPts val="2450"/>
              </a:lnSpc>
            </a:pPr>
            <a:r>
              <a:rPr lang="en-US" sz="2400" dirty="0"/>
              <a:t>Secure storage and retrieval of health data</a:t>
            </a:r>
            <a:r>
              <a:rPr lang="en-US" sz="1600" dirty="0"/>
              <a:t>.</a:t>
            </a:r>
            <a:endParaRPr lang="en-US" sz="1530" dirty="0"/>
          </a:p>
        </p:txBody>
      </p:sp>
      <p:pic>
        <p:nvPicPr>
          <p:cNvPr id="11" name="Image 2" descr="preencoded.png">
            <a:extLst>
              <a:ext uri="{FF2B5EF4-FFF2-40B4-BE49-F238E27FC236}">
                <a16:creationId xmlns:a16="http://schemas.microsoft.com/office/drawing/2014/main" id="{5A2664A2-2F21-49ED-BBD6-E819A057F40E}"/>
              </a:ext>
            </a:extLst>
          </p:cNvPr>
          <p:cNvPicPr>
            <a:picLocks noChangeAspect="1"/>
          </p:cNvPicPr>
          <p:nvPr/>
        </p:nvPicPr>
        <p:blipFill>
          <a:blip r:embed="rId5"/>
          <a:stretch>
            <a:fillRect/>
          </a:stretch>
        </p:blipFill>
        <p:spPr>
          <a:xfrm>
            <a:off x="649629" y="1826490"/>
            <a:ext cx="8608670" cy="45719"/>
          </a:xfrm>
          <a:prstGeom prst="rect">
            <a:avLst/>
          </a:prstGeom>
        </p:spPr>
      </p:pic>
      <p:pic>
        <p:nvPicPr>
          <p:cNvPr id="13" name="Image 4" descr="preencoded.png">
            <a:extLst>
              <a:ext uri="{FF2B5EF4-FFF2-40B4-BE49-F238E27FC236}">
                <a16:creationId xmlns:a16="http://schemas.microsoft.com/office/drawing/2014/main" id="{3A03DAB9-6332-4E76-8563-34F9F75A93C3}"/>
              </a:ext>
            </a:extLst>
          </p:cNvPr>
          <p:cNvPicPr>
            <a:picLocks noChangeAspect="1"/>
          </p:cNvPicPr>
          <p:nvPr/>
        </p:nvPicPr>
        <p:blipFill>
          <a:blip r:embed="rId4"/>
          <a:stretch>
            <a:fillRect/>
          </a:stretch>
        </p:blipFill>
        <p:spPr>
          <a:xfrm>
            <a:off x="961356" y="4976187"/>
            <a:ext cx="9450806" cy="768096"/>
          </a:xfrm>
          <a:prstGeom prst="rect">
            <a:avLst/>
          </a:prstGeom>
        </p:spPr>
      </p:pic>
      <p:sp>
        <p:nvSpPr>
          <p:cNvPr id="14" name="Rectangle 13">
            <a:extLst>
              <a:ext uri="{FF2B5EF4-FFF2-40B4-BE49-F238E27FC236}">
                <a16:creationId xmlns:a16="http://schemas.microsoft.com/office/drawing/2014/main" id="{ECB5074B-6FA5-4B8F-966A-B95B2D78640D}"/>
              </a:ext>
            </a:extLst>
          </p:cNvPr>
          <p:cNvSpPr/>
          <p:nvPr/>
        </p:nvSpPr>
        <p:spPr>
          <a:xfrm>
            <a:off x="1145475" y="5088528"/>
            <a:ext cx="6344686" cy="461665"/>
          </a:xfrm>
          <a:prstGeom prst="rect">
            <a:avLst/>
          </a:prstGeom>
        </p:spPr>
        <p:txBody>
          <a:bodyPr wrap="none">
            <a:spAutoFit/>
          </a:bodyPr>
          <a:lstStyle/>
          <a:p>
            <a:r>
              <a:rPr lang="en-US" sz="2400" dirty="0"/>
              <a:t>Increased user awareness of health and wellness.</a:t>
            </a:r>
          </a:p>
        </p:txBody>
      </p:sp>
      <p:sp>
        <p:nvSpPr>
          <p:cNvPr id="15" name="Rectangle 14">
            <a:extLst>
              <a:ext uri="{FF2B5EF4-FFF2-40B4-BE49-F238E27FC236}">
                <a16:creationId xmlns:a16="http://schemas.microsoft.com/office/drawing/2014/main" id="{3C9F1EF8-788D-4ADA-A730-4320CB0886E9}"/>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3961206305"/>
              </p:ext>
            </p:extLst>
          </p:nvPr>
        </p:nvGraphicFramePr>
        <p:xfrm>
          <a:off x="685800" y="2146929"/>
          <a:ext cx="13240975" cy="4950400"/>
        </p:xfrm>
        <a:graphic>
          <a:graphicData uri="http://schemas.openxmlformats.org/drawingml/2006/table">
            <a:tbl>
              <a:tblPr/>
              <a:tblGrid>
                <a:gridCol w="3671047">
                  <a:extLst>
                    <a:ext uri="{9D8B030D-6E8A-4147-A177-3AD203B41FA5}">
                      <a16:colId xmlns:a16="http://schemas.microsoft.com/office/drawing/2014/main" val="20000"/>
                    </a:ext>
                  </a:extLst>
                </a:gridCol>
                <a:gridCol w="5153376">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603504">
                <a:tc>
                  <a:txBody>
                    <a:bodyPr/>
                    <a:lstStyle/>
                    <a:p>
                      <a:pPr marL="0" indent="0" algn="l">
                        <a:lnSpc>
                          <a:spcPts val="2450"/>
                        </a:lnSpc>
                        <a:buNone/>
                      </a:pPr>
                      <a:r>
                        <a:rPr lang="en-US" sz="2400" b="1" dirty="0">
                          <a:solidFill>
                            <a:srgbClr val="292D2E"/>
                          </a:solidFill>
                          <a:latin typeface="+mn-lt"/>
                          <a:ea typeface="思源黑体-思源黑体-Medium" pitchFamily="34" charset="-122"/>
                          <a:cs typeface="思源黑体-思源黑体-Medium" pitchFamily="34" charset="-120"/>
                        </a:rPr>
                        <a:t>Phase</a:t>
                      </a:r>
                      <a:endParaRPr lang="en-US" sz="2400" b="1"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b="1" dirty="0">
                          <a:solidFill>
                            <a:srgbClr val="292D2E"/>
                          </a:solidFill>
                          <a:latin typeface="+mn-lt"/>
                          <a:ea typeface="思源黑体-思源黑体-Medium" pitchFamily="34" charset="-122"/>
                          <a:cs typeface="思源黑体-思源黑体-Medium" pitchFamily="34" charset="-120"/>
                        </a:rPr>
                        <a:t>Task</a:t>
                      </a:r>
                      <a:endParaRPr lang="en-US" sz="2400" b="1"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b="1" dirty="0">
                          <a:solidFill>
                            <a:srgbClr val="292D2E"/>
                          </a:solidFill>
                          <a:latin typeface="+mn-lt"/>
                          <a:ea typeface="思源黑体-思源黑体-Medium" pitchFamily="34" charset="-122"/>
                          <a:cs typeface="思源黑体-思源黑体-Medium" pitchFamily="34" charset="-120"/>
                        </a:rPr>
                        <a:t>Duration</a:t>
                      </a:r>
                      <a:endParaRPr lang="en-US" sz="2400" b="1"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Phase 1</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Requirements Gathering &amp; </a:t>
                      </a:r>
                      <a:r>
                        <a:rPr lang="en-US" sz="2400" dirty="0"/>
                        <a:t>research</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1 Week</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Phase 2</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System Design</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1 Week</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Phase 3</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Frontend Development</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2 Weeks</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Phase 4</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latin typeface="+mn-lt"/>
                        </a:rPr>
                        <a:t>Backend Development</a:t>
                      </a: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2 Weeks</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marR="0" lvl="0" indent="0" algn="l" defTabSz="914400" rtl="0" eaLnBrk="1" fontAlgn="auto" latinLnBrk="0" hangingPunct="1">
                        <a:lnSpc>
                          <a:spcPts val="2450"/>
                        </a:lnSpc>
                        <a:spcBef>
                          <a:spcPts val="0"/>
                        </a:spcBef>
                        <a:spcAft>
                          <a:spcPts val="0"/>
                        </a:spcAft>
                        <a:buClrTx/>
                        <a:buSzTx/>
                        <a:buFontTx/>
                        <a:buNone/>
                        <a:tabLst/>
                        <a:defRPr/>
                      </a:pPr>
                      <a:r>
                        <a:rPr lang="en-US" sz="2400" dirty="0">
                          <a:solidFill>
                            <a:srgbClr val="292D2E"/>
                          </a:solidFill>
                          <a:latin typeface="+mn-lt"/>
                          <a:ea typeface="思源黑体-思源黑体-Medium" pitchFamily="34" charset="-122"/>
                          <a:cs typeface="思源黑体-思源黑体-Medium" pitchFamily="34" charset="-120"/>
                        </a:rPr>
                        <a:t>Phase 5</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t>Database design &amp; integration</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marR="0" lvl="0" indent="0" algn="l" defTabSz="914400" rtl="0" eaLnBrk="1" fontAlgn="auto" latinLnBrk="0" hangingPunct="1">
                        <a:lnSpc>
                          <a:spcPts val="2450"/>
                        </a:lnSpc>
                        <a:spcBef>
                          <a:spcPts val="0"/>
                        </a:spcBef>
                        <a:spcAft>
                          <a:spcPts val="0"/>
                        </a:spcAft>
                        <a:buClrTx/>
                        <a:buSzTx/>
                        <a:buFontTx/>
                        <a:buNone/>
                        <a:tabLst/>
                        <a:defRPr/>
                      </a:pPr>
                      <a:r>
                        <a:rPr lang="en-US" sz="2400" dirty="0">
                          <a:solidFill>
                            <a:srgbClr val="292D2E"/>
                          </a:solidFill>
                          <a:latin typeface="+mn-lt"/>
                          <a:ea typeface="思源黑体-思源黑体-Medium" pitchFamily="34" charset="-122"/>
                          <a:cs typeface="思源黑体-思源黑体-Medium" pitchFamily="34" charset="-120"/>
                        </a:rPr>
                        <a:t>1 Week</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2391400446"/>
                  </a:ext>
                </a:extLst>
              </a:tr>
              <a:tr h="603504">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Phase 6</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t>Testing of all modules &amp; bug fixing</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450"/>
                        </a:lnSpc>
                        <a:buNone/>
                      </a:pPr>
                      <a:r>
                        <a:rPr lang="en-US" sz="2400" dirty="0">
                          <a:solidFill>
                            <a:srgbClr val="292D2E"/>
                          </a:solidFill>
                          <a:latin typeface="+mn-lt"/>
                          <a:ea typeface="思源黑体-思源黑体-Medium" pitchFamily="34" charset="-122"/>
                          <a:cs typeface="思源黑体-思源黑体-Medium" pitchFamily="34" charset="-120"/>
                        </a:rPr>
                        <a:t>1 Week</a:t>
                      </a:r>
                      <a:endParaRPr lang="en-US" sz="2400" dirty="0">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0"/>
          <p:cNvSpPr/>
          <p:nvPr/>
        </p:nvSpPr>
        <p:spPr>
          <a:xfrm>
            <a:off x="685800" y="901668"/>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Work Plan</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pic>
        <p:nvPicPr>
          <p:cNvPr id="5" name="Image 2" descr="preencoded.png">
            <a:extLst>
              <a:ext uri="{FF2B5EF4-FFF2-40B4-BE49-F238E27FC236}">
                <a16:creationId xmlns:a16="http://schemas.microsoft.com/office/drawing/2014/main" id="{99FEB0EC-1A2C-4407-8FE7-0637F9A88B6D}"/>
              </a:ext>
            </a:extLst>
          </p:cNvPr>
          <p:cNvPicPr>
            <a:picLocks noChangeAspect="1"/>
          </p:cNvPicPr>
          <p:nvPr/>
        </p:nvPicPr>
        <p:blipFill>
          <a:blip r:embed="rId4"/>
          <a:stretch>
            <a:fillRect/>
          </a:stretch>
        </p:blipFill>
        <p:spPr>
          <a:xfrm>
            <a:off x="347588" y="1666996"/>
            <a:ext cx="8608670" cy="45719"/>
          </a:xfrm>
          <a:prstGeom prst="rect">
            <a:avLst/>
          </a:prstGeom>
        </p:spPr>
      </p:pic>
      <p:sp>
        <p:nvSpPr>
          <p:cNvPr id="6" name="Rectangle 5">
            <a:extLst>
              <a:ext uri="{FF2B5EF4-FFF2-40B4-BE49-F238E27FC236}">
                <a16:creationId xmlns:a16="http://schemas.microsoft.com/office/drawing/2014/main" id="{89AEC197-DA9F-44C3-A8D0-D4067E8FC956}"/>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607"/>
            <a:ext cx="14630400" cy="8238744"/>
          </a:xfrm>
          <a:prstGeom prst="rect">
            <a:avLst/>
          </a:prstGeom>
        </p:spPr>
      </p:pic>
      <p:sp>
        <p:nvSpPr>
          <p:cNvPr id="4" name="Text 0"/>
          <p:cNvSpPr/>
          <p:nvPr/>
        </p:nvSpPr>
        <p:spPr>
          <a:xfrm>
            <a:off x="685800" y="669392"/>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rPr>
              <a:t>Future Scope</a:t>
            </a:r>
          </a:p>
        </p:txBody>
      </p:sp>
      <p:pic>
        <p:nvPicPr>
          <p:cNvPr id="5" name="Image 2" descr="preencoded.png">
            <a:extLst>
              <a:ext uri="{FF2B5EF4-FFF2-40B4-BE49-F238E27FC236}">
                <a16:creationId xmlns:a16="http://schemas.microsoft.com/office/drawing/2014/main" id="{CC3427A8-8C6C-4795-9C3A-1387992C5EB4}"/>
              </a:ext>
            </a:extLst>
          </p:cNvPr>
          <p:cNvPicPr>
            <a:picLocks noChangeAspect="1"/>
          </p:cNvPicPr>
          <p:nvPr/>
        </p:nvPicPr>
        <p:blipFill>
          <a:blip r:embed="rId4"/>
          <a:stretch>
            <a:fillRect/>
          </a:stretch>
        </p:blipFill>
        <p:spPr>
          <a:xfrm>
            <a:off x="345043" y="1388200"/>
            <a:ext cx="8608670" cy="45719"/>
          </a:xfrm>
          <a:prstGeom prst="rect">
            <a:avLst/>
          </a:prstGeom>
        </p:spPr>
      </p:pic>
      <p:sp>
        <p:nvSpPr>
          <p:cNvPr id="6" name="Rectangle 5">
            <a:extLst>
              <a:ext uri="{FF2B5EF4-FFF2-40B4-BE49-F238E27FC236}">
                <a16:creationId xmlns:a16="http://schemas.microsoft.com/office/drawing/2014/main" id="{108B9258-39F7-4B25-B106-56E35D54797F}"/>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 name="TextBox 2">
            <a:extLst>
              <a:ext uri="{FF2B5EF4-FFF2-40B4-BE49-F238E27FC236}">
                <a16:creationId xmlns:a16="http://schemas.microsoft.com/office/drawing/2014/main" id="{7D597637-6BD1-46E7-8AA2-E6D1CFC5BA37}"/>
              </a:ext>
            </a:extLst>
          </p:cNvPr>
          <p:cNvSpPr txBox="1"/>
          <p:nvPr/>
        </p:nvSpPr>
        <p:spPr>
          <a:xfrm>
            <a:off x="685799" y="1848266"/>
            <a:ext cx="12815047" cy="3693319"/>
          </a:xfrm>
          <a:prstGeom prst="rect">
            <a:avLst/>
          </a:prstGeom>
          <a:noFill/>
        </p:spPr>
        <p:txBody>
          <a:bodyPr wrap="square" rtlCol="0">
            <a:spAutoFit/>
          </a:bodyPr>
          <a:lstStyle/>
          <a:p>
            <a:r>
              <a:rPr lang="en-US" sz="2400" b="1" dirty="0"/>
              <a:t>Integration with Wearable Devices</a:t>
            </a:r>
            <a:r>
              <a:rPr lang="en-US" sz="2400" dirty="0"/>
              <a:t> – Sync with smartwatches and fitness bands for real-time activity and health data.</a:t>
            </a:r>
          </a:p>
          <a:p>
            <a:r>
              <a:rPr lang="en-US" sz="2400" b="1" dirty="0"/>
              <a:t>AI-driven Health Insights</a:t>
            </a:r>
            <a:r>
              <a:rPr lang="en-US" sz="2400" dirty="0"/>
              <a:t> – Use predictive analytics to give personalized health recommendations based on user patterns.</a:t>
            </a:r>
          </a:p>
          <a:p>
            <a:r>
              <a:rPr lang="en-US" sz="2400" b="1" dirty="0"/>
              <a:t>Telemedicine Support</a:t>
            </a:r>
            <a:r>
              <a:rPr lang="en-US" sz="2400" dirty="0"/>
              <a:t> – Enable video consultations with doctors directly through the platform.</a:t>
            </a:r>
          </a:p>
          <a:p>
            <a:r>
              <a:rPr lang="en-US" sz="2400" b="1" dirty="0"/>
              <a:t>Multilingual Support</a:t>
            </a:r>
            <a:r>
              <a:rPr lang="en-US" sz="2400" dirty="0"/>
              <a:t> – Introduce Bangla and other regional languages for better accessibility.</a:t>
            </a:r>
          </a:p>
          <a:p>
            <a:r>
              <a:rPr lang="en-US" sz="2400" b="1" dirty="0"/>
              <a:t>Mobile Application</a:t>
            </a:r>
            <a:r>
              <a:rPr lang="en-US" sz="2400" dirty="0"/>
              <a:t> – Develop a fully functional Android and iOS app.</a:t>
            </a:r>
          </a:p>
          <a:p>
            <a:r>
              <a:rPr lang="en-US" sz="2400" b="1" dirty="0"/>
              <a:t>Integration with Government Health Schemes</a:t>
            </a:r>
            <a:r>
              <a:rPr lang="en-US" sz="2400" dirty="0"/>
              <a:t> – Collaborate with local health authorities for vaccinations, screenings and awareness programs.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06A8FE9-7A66-40C6-9003-D108570A8175}"/>
              </a:ext>
            </a:extLst>
          </p:cNvPr>
          <p:cNvPicPr>
            <a:picLocks noChangeAspect="1"/>
          </p:cNvPicPr>
          <p:nvPr/>
        </p:nvPicPr>
        <p:blipFill>
          <a:blip r:embed="rId2"/>
          <a:stretch>
            <a:fillRect/>
          </a:stretch>
        </p:blipFill>
        <p:spPr>
          <a:xfrm>
            <a:off x="0" y="3607"/>
            <a:ext cx="14630400" cy="8238744"/>
          </a:xfrm>
          <a:prstGeom prst="rect">
            <a:avLst/>
          </a:prstGeom>
        </p:spPr>
      </p:pic>
      <p:sp>
        <p:nvSpPr>
          <p:cNvPr id="3" name="Text 0">
            <a:extLst>
              <a:ext uri="{FF2B5EF4-FFF2-40B4-BE49-F238E27FC236}">
                <a16:creationId xmlns:a16="http://schemas.microsoft.com/office/drawing/2014/main" id="{DE9C0016-2139-43CF-AA58-E64B020BB4E7}"/>
              </a:ext>
            </a:extLst>
          </p:cNvPr>
          <p:cNvSpPr/>
          <p:nvPr/>
        </p:nvSpPr>
        <p:spPr>
          <a:xfrm>
            <a:off x="685800" y="669392"/>
            <a:ext cx="13267944"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rPr>
              <a:t>Budget</a:t>
            </a:r>
          </a:p>
        </p:txBody>
      </p:sp>
      <p:pic>
        <p:nvPicPr>
          <p:cNvPr id="4" name="Image 2" descr="preencoded.png">
            <a:extLst>
              <a:ext uri="{FF2B5EF4-FFF2-40B4-BE49-F238E27FC236}">
                <a16:creationId xmlns:a16="http://schemas.microsoft.com/office/drawing/2014/main" id="{C5ABDB37-CD2E-4473-A889-F17DF60E28EE}"/>
              </a:ext>
            </a:extLst>
          </p:cNvPr>
          <p:cNvPicPr>
            <a:picLocks noChangeAspect="1"/>
          </p:cNvPicPr>
          <p:nvPr/>
        </p:nvPicPr>
        <p:blipFill>
          <a:blip r:embed="rId3"/>
          <a:stretch>
            <a:fillRect/>
          </a:stretch>
        </p:blipFill>
        <p:spPr>
          <a:xfrm>
            <a:off x="237467" y="1332187"/>
            <a:ext cx="8608670" cy="45719"/>
          </a:xfrm>
          <a:prstGeom prst="rect">
            <a:avLst/>
          </a:prstGeom>
        </p:spPr>
      </p:pic>
      <p:graphicFrame>
        <p:nvGraphicFramePr>
          <p:cNvPr id="5" name="Table 4">
            <a:extLst>
              <a:ext uri="{FF2B5EF4-FFF2-40B4-BE49-F238E27FC236}">
                <a16:creationId xmlns:a16="http://schemas.microsoft.com/office/drawing/2014/main" id="{F60C92F0-B522-4822-84B1-151703945DBC}"/>
              </a:ext>
            </a:extLst>
          </p:cNvPr>
          <p:cNvGraphicFramePr>
            <a:graphicFrameLocks noGrp="1"/>
          </p:cNvGraphicFramePr>
          <p:nvPr>
            <p:extLst>
              <p:ext uri="{D42A27DB-BD31-4B8C-83A1-F6EECF244321}">
                <p14:modId xmlns:p14="http://schemas.microsoft.com/office/powerpoint/2010/main" val="2920784344"/>
              </p:ext>
            </p:extLst>
          </p:nvPr>
        </p:nvGraphicFramePr>
        <p:xfrm>
          <a:off x="1341120" y="1947823"/>
          <a:ext cx="10804264" cy="4949592"/>
        </p:xfrm>
        <a:graphic>
          <a:graphicData uri="http://schemas.openxmlformats.org/drawingml/2006/table">
            <a:tbl>
              <a:tblPr firstRow="1" bandRow="1">
                <a:tableStyleId>{7DF18680-E054-41AD-8BC1-D1AEF772440D}</a:tableStyleId>
              </a:tblPr>
              <a:tblGrid>
                <a:gridCol w="5402132">
                  <a:extLst>
                    <a:ext uri="{9D8B030D-6E8A-4147-A177-3AD203B41FA5}">
                      <a16:colId xmlns:a16="http://schemas.microsoft.com/office/drawing/2014/main" val="3896615227"/>
                    </a:ext>
                  </a:extLst>
                </a:gridCol>
                <a:gridCol w="5402132">
                  <a:extLst>
                    <a:ext uri="{9D8B030D-6E8A-4147-A177-3AD203B41FA5}">
                      <a16:colId xmlns:a16="http://schemas.microsoft.com/office/drawing/2014/main" val="4076894654"/>
                    </a:ext>
                  </a:extLst>
                </a:gridCol>
              </a:tblGrid>
              <a:tr h="824932">
                <a:tc>
                  <a:txBody>
                    <a:bodyPr/>
                    <a:lstStyle/>
                    <a:p>
                      <a:r>
                        <a:rPr lang="en-US" sz="2400" dirty="0"/>
                        <a:t>                                ITEM</a:t>
                      </a:r>
                    </a:p>
                  </a:txBody>
                  <a:tcPr/>
                </a:tc>
                <a:tc>
                  <a:txBody>
                    <a:bodyPr/>
                    <a:lstStyle/>
                    <a:p>
                      <a:r>
                        <a:rPr lang="en-US" sz="2400" dirty="0"/>
                        <a:t>                 ESTIMATED COST(USD)</a:t>
                      </a:r>
                    </a:p>
                  </a:txBody>
                  <a:tcPr/>
                </a:tc>
                <a:extLst>
                  <a:ext uri="{0D108BD9-81ED-4DB2-BD59-A6C34878D82A}">
                    <a16:rowId xmlns:a16="http://schemas.microsoft.com/office/drawing/2014/main" val="4190846670"/>
                  </a:ext>
                </a:extLst>
              </a:tr>
              <a:tr h="824932">
                <a:tc>
                  <a:txBody>
                    <a:bodyPr/>
                    <a:lstStyle/>
                    <a:p>
                      <a:r>
                        <a:rPr lang="en-US" sz="2400" dirty="0"/>
                        <a:t>Domain &amp; Hosting</a:t>
                      </a:r>
                    </a:p>
                  </a:txBody>
                  <a:tcPr/>
                </a:tc>
                <a:tc>
                  <a:txBody>
                    <a:bodyPr/>
                    <a:lstStyle/>
                    <a:p>
                      <a:r>
                        <a:rPr lang="en-US" sz="2400" dirty="0"/>
                        <a:t>                        $100/Year</a:t>
                      </a:r>
                    </a:p>
                  </a:txBody>
                  <a:tcPr/>
                </a:tc>
                <a:extLst>
                  <a:ext uri="{0D108BD9-81ED-4DB2-BD59-A6C34878D82A}">
                    <a16:rowId xmlns:a16="http://schemas.microsoft.com/office/drawing/2014/main" val="2802685795"/>
                  </a:ext>
                </a:extLst>
              </a:tr>
              <a:tr h="824932">
                <a:tc>
                  <a:txBody>
                    <a:bodyPr/>
                    <a:lstStyle/>
                    <a:p>
                      <a:r>
                        <a:rPr lang="en-US" sz="2400" dirty="0"/>
                        <a:t>Design &amp; UI Assets</a:t>
                      </a:r>
                    </a:p>
                  </a:txBody>
                  <a:tcPr/>
                </a:tc>
                <a:tc>
                  <a:txBody>
                    <a:bodyPr/>
                    <a:lstStyle/>
                    <a:p>
                      <a:r>
                        <a:rPr lang="en-US" sz="2400" dirty="0"/>
                        <a:t>                             $80</a:t>
                      </a:r>
                    </a:p>
                  </a:txBody>
                  <a:tcPr/>
                </a:tc>
                <a:extLst>
                  <a:ext uri="{0D108BD9-81ED-4DB2-BD59-A6C34878D82A}">
                    <a16:rowId xmlns:a16="http://schemas.microsoft.com/office/drawing/2014/main" val="1576717132"/>
                  </a:ext>
                </a:extLst>
              </a:tr>
              <a:tr h="824932">
                <a:tc>
                  <a:txBody>
                    <a:bodyPr/>
                    <a:lstStyle/>
                    <a:p>
                      <a:r>
                        <a:rPr lang="en-US" sz="2400" dirty="0"/>
                        <a:t>Database &amp; Security</a:t>
                      </a:r>
                    </a:p>
                  </a:txBody>
                  <a:tcPr/>
                </a:tc>
                <a:tc>
                  <a:txBody>
                    <a:bodyPr/>
                    <a:lstStyle/>
                    <a:p>
                      <a:r>
                        <a:rPr lang="en-US" sz="2400" dirty="0"/>
                        <a:t>                             $90</a:t>
                      </a:r>
                    </a:p>
                  </a:txBody>
                  <a:tcPr/>
                </a:tc>
                <a:extLst>
                  <a:ext uri="{0D108BD9-81ED-4DB2-BD59-A6C34878D82A}">
                    <a16:rowId xmlns:a16="http://schemas.microsoft.com/office/drawing/2014/main" val="4154901828"/>
                  </a:ext>
                </a:extLst>
              </a:tr>
              <a:tr h="824932">
                <a:tc>
                  <a:txBody>
                    <a:bodyPr/>
                    <a:lstStyle/>
                    <a:p>
                      <a:r>
                        <a:rPr lang="en-US" sz="2400" dirty="0"/>
                        <a:t>Testing &amp; Deployment</a:t>
                      </a:r>
                    </a:p>
                  </a:txBody>
                  <a:tcPr/>
                </a:tc>
                <a:tc>
                  <a:txBody>
                    <a:bodyPr/>
                    <a:lstStyle/>
                    <a:p>
                      <a:r>
                        <a:rPr lang="en-US" sz="2400" dirty="0"/>
                        <a:t>                             $50</a:t>
                      </a:r>
                    </a:p>
                  </a:txBody>
                  <a:tcPr/>
                </a:tc>
                <a:extLst>
                  <a:ext uri="{0D108BD9-81ED-4DB2-BD59-A6C34878D82A}">
                    <a16:rowId xmlns:a16="http://schemas.microsoft.com/office/drawing/2014/main" val="193487330"/>
                  </a:ext>
                </a:extLst>
              </a:tr>
              <a:tr h="824932">
                <a:tc>
                  <a:txBody>
                    <a:bodyPr/>
                    <a:lstStyle/>
                    <a:p>
                      <a:r>
                        <a:rPr lang="en-US" sz="2400" dirty="0"/>
                        <a:t>Total</a:t>
                      </a:r>
                    </a:p>
                  </a:txBody>
                  <a:tcPr/>
                </a:tc>
                <a:tc>
                  <a:txBody>
                    <a:bodyPr/>
                    <a:lstStyle/>
                    <a:p>
                      <a:r>
                        <a:rPr lang="en-US" sz="2400" dirty="0"/>
                        <a:t>                            $320</a:t>
                      </a:r>
                    </a:p>
                  </a:txBody>
                  <a:tcPr/>
                </a:tc>
                <a:extLst>
                  <a:ext uri="{0D108BD9-81ED-4DB2-BD59-A6C34878D82A}">
                    <a16:rowId xmlns:a16="http://schemas.microsoft.com/office/drawing/2014/main" val="3554493677"/>
                  </a:ext>
                </a:extLst>
              </a:tr>
            </a:tbl>
          </a:graphicData>
        </a:graphic>
      </p:graphicFrame>
      <p:sp>
        <p:nvSpPr>
          <p:cNvPr id="6" name="Rectangle 5">
            <a:extLst>
              <a:ext uri="{FF2B5EF4-FFF2-40B4-BE49-F238E27FC236}">
                <a16:creationId xmlns:a16="http://schemas.microsoft.com/office/drawing/2014/main" id="{C13118EC-F7B5-45ED-AA21-94DD4771D8F5}"/>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Tree>
    <p:extLst>
      <p:ext uri="{BB962C8B-B14F-4D97-AF65-F5344CB8AC3E}">
        <p14:creationId xmlns:p14="http://schemas.microsoft.com/office/powerpoint/2010/main" val="2746170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902941" y="1983188"/>
            <a:ext cx="8293608" cy="612648"/>
          </a:xfrm>
          <a:prstGeom prst="rect">
            <a:avLst/>
          </a:prstGeom>
          <a:noFill/>
          <a:ln/>
        </p:spPr>
        <p:txBody>
          <a:bodyPr wrap="none" lIns="0" tIns="0" rIns="0" bIns="0" rtlCol="0" anchor="ctr"/>
          <a:lstStyle/>
          <a:p>
            <a:pPr marL="0" indent="0" algn="l">
              <a:lnSpc>
                <a:spcPts val="4800"/>
              </a:lnSpc>
              <a:buNone/>
            </a:pPr>
            <a:r>
              <a:rPr lang="en-US" sz="3600"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Conclusion</a:t>
            </a:r>
            <a:endParaRPr lang="en-US" sz="3600" dirty="0">
              <a:solidFill>
                <a:srgbClr val="002060"/>
              </a:solidFill>
              <a:latin typeface="Yu Gothic UI Semilight" panose="020B0400000000000000" pitchFamily="34" charset="-128"/>
              <a:ea typeface="Yu Gothic UI Semilight" panose="020B0400000000000000" pitchFamily="34" charset="-128"/>
            </a:endParaRPr>
          </a:p>
        </p:txBody>
      </p:sp>
      <p:sp>
        <p:nvSpPr>
          <p:cNvPr id="5" name="Text 1"/>
          <p:cNvSpPr/>
          <p:nvPr/>
        </p:nvSpPr>
        <p:spPr>
          <a:xfrm>
            <a:off x="902941" y="3595442"/>
            <a:ext cx="8293608" cy="3039337"/>
          </a:xfrm>
          <a:prstGeom prst="rect">
            <a:avLst/>
          </a:prstGeom>
          <a:noFill/>
          <a:ln/>
        </p:spPr>
        <p:txBody>
          <a:bodyPr wrap="square" lIns="0" tIns="0" rIns="0" bIns="0" rtlCol="0" anchor="ctr"/>
          <a:lstStyle/>
          <a:p>
            <a:pPr>
              <a:lnSpc>
                <a:spcPts val="2450"/>
              </a:lnSpc>
            </a:pPr>
            <a:r>
              <a:rPr lang="en-US" sz="2400" dirty="0"/>
              <a:t>The Health Management System provides a comprehensive solution for individuals seeking to manage their health in a structured and effective manner. By integrating multiple health services into a single portal, it enhances user convenience and promotes healthier living. </a:t>
            </a:r>
          </a:p>
        </p:txBody>
      </p:sp>
      <p:pic>
        <p:nvPicPr>
          <p:cNvPr id="7" name="Image 2" descr="preencoded.png">
            <a:extLst>
              <a:ext uri="{FF2B5EF4-FFF2-40B4-BE49-F238E27FC236}">
                <a16:creationId xmlns:a16="http://schemas.microsoft.com/office/drawing/2014/main" id="{B771B8C6-F1DB-4777-9365-6C85D336F742}"/>
              </a:ext>
            </a:extLst>
          </p:cNvPr>
          <p:cNvPicPr>
            <a:picLocks noChangeAspect="1"/>
          </p:cNvPicPr>
          <p:nvPr/>
        </p:nvPicPr>
        <p:blipFill>
          <a:blip r:embed="rId4"/>
          <a:stretch>
            <a:fillRect/>
          </a:stretch>
        </p:blipFill>
        <p:spPr>
          <a:xfrm>
            <a:off x="483939" y="2729502"/>
            <a:ext cx="8608670" cy="45719"/>
          </a:xfrm>
          <a:prstGeom prst="rect">
            <a:avLst/>
          </a:prstGeom>
        </p:spPr>
      </p:pic>
      <p:sp>
        <p:nvSpPr>
          <p:cNvPr id="8" name="Rectangle 7">
            <a:extLst>
              <a:ext uri="{FF2B5EF4-FFF2-40B4-BE49-F238E27FC236}">
                <a16:creationId xmlns:a16="http://schemas.microsoft.com/office/drawing/2014/main" id="{F7B281F7-3B93-447C-876C-528BE9C0EE35}"/>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1978" y="-9144"/>
            <a:ext cx="14630400" cy="8238744"/>
          </a:xfrm>
          <a:prstGeom prst="rect">
            <a:avLst/>
          </a:prstGeom>
        </p:spPr>
      </p:pic>
      <p:sp>
        <p:nvSpPr>
          <p:cNvPr id="4" name="Text 0"/>
          <p:cNvSpPr/>
          <p:nvPr/>
        </p:nvSpPr>
        <p:spPr>
          <a:xfrm>
            <a:off x="685800" y="3593592"/>
            <a:ext cx="13267944" cy="841248"/>
          </a:xfrm>
          <a:prstGeom prst="rect">
            <a:avLst/>
          </a:prstGeom>
          <a:noFill/>
          <a:ln/>
        </p:spPr>
        <p:txBody>
          <a:bodyPr wrap="none" lIns="0" tIns="0" rIns="0" bIns="0" rtlCol="0" anchor="ctr"/>
          <a:lstStyle/>
          <a:p>
            <a:pPr marL="0" indent="0" algn="ctr">
              <a:lnSpc>
                <a:spcPts val="6620"/>
              </a:lnSpc>
              <a:buNone/>
            </a:pPr>
            <a:r>
              <a:rPr lang="en-US" sz="6600" b="1" dirty="0">
                <a:solidFill>
                  <a:srgbClr val="002060"/>
                </a:solidFill>
                <a:latin typeface="Yu Gothic UI Semilight" panose="020B0400000000000000" pitchFamily="34" charset="-128"/>
                <a:ea typeface="Yu Gothic UI Semilight" panose="020B0400000000000000" pitchFamily="34" charset="-128"/>
                <a:cs typeface="思源黑体-思源黑体-Bold" pitchFamily="34" charset="-120"/>
              </a:rPr>
              <a:t>Thank You</a:t>
            </a:r>
            <a:endParaRPr lang="en-US" sz="6600" b="1" dirty="0">
              <a:solidFill>
                <a:srgbClr val="002060"/>
              </a:solidFill>
              <a:latin typeface="Yu Gothic UI Semilight" panose="020B0400000000000000" pitchFamily="34" charset="-128"/>
              <a:ea typeface="Yu Gothic UI Semilight" panose="020B0400000000000000" pitchFamily="34" charset="-128"/>
            </a:endParaRPr>
          </a:p>
        </p:txBody>
      </p:sp>
      <p:sp>
        <p:nvSpPr>
          <p:cNvPr id="5" name="Rectangle 4">
            <a:extLst>
              <a:ext uri="{FF2B5EF4-FFF2-40B4-BE49-F238E27FC236}">
                <a16:creationId xmlns:a16="http://schemas.microsoft.com/office/drawing/2014/main" id="{726EBD2E-272D-4DAE-8AC9-492BEB9FF42A}"/>
              </a:ext>
            </a:extLst>
          </p:cNvPr>
          <p:cNvSpPr/>
          <p:nvPr/>
        </p:nvSpPr>
        <p:spPr>
          <a:xfrm>
            <a:off x="13984942" y="7341615"/>
            <a:ext cx="633480" cy="791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TotalTime>
  <Words>1401</Words>
  <Application>Microsoft Office PowerPoint</Application>
  <PresentationFormat>Custom</PresentationFormat>
  <Paragraphs>189</Paragraphs>
  <Slides>18</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Yu Gothic UI Semibold</vt:lpstr>
      <vt:lpstr>Yu Gothic UI Semilight</vt:lpstr>
      <vt:lpstr>Arial</vt:lpstr>
      <vt:lpstr>Calibri</vt:lpstr>
      <vt:lpstr>思源黑体-思源黑体-Bold</vt:lpstr>
      <vt:lpstr>思源黑体-思源黑体-Medium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afia naifa</cp:lastModifiedBy>
  <cp:revision>60</cp:revision>
  <dcterms:created xsi:type="dcterms:W3CDTF">2025-09-11T04:50:11Z</dcterms:created>
  <dcterms:modified xsi:type="dcterms:W3CDTF">2025-09-15T18:11:01Z</dcterms:modified>
</cp:coreProperties>
</file>